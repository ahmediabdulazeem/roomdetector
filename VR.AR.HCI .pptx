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66" r:id="rId5"/>
    <p:sldId id="261" r:id="rId6"/>
    <p:sldId id="268"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5" d="100"/>
          <a:sy n="65" d="100"/>
        </p:scale>
        <p:origin x="8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2357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Prepared for: Software Construction Enterprises
[Sources]
- (No external sources used; diagrams and content are original.)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Prepared for: Software Construction Enterprises
[Sources]
- (No external sources used; diagrams and content are original.)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Prepared for: Software Construction Enterprises
[Sources]
- (No external sources used; diagrams and content are original.)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Prepared for: Software Construction Enterprises
[Sources]
- (No external sources used; diagrams and content are original.)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01729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Prepared for: Software Construction Enterprises
[Sources]
- (No external sources used; diagrams and content are original.)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504825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Prepared for: Software Construction Enterprises
[Sources]
- (No external sources used; diagrams and content are original.)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03789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Prepared for: Software Construction Enterprises
[Sources]
- (No external sources used; diagrams and content are original.)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764212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Prepared for: Software Construction Enterprises
[Sources]
- (No external sources used; diagrams and content are original.)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649178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Prepared for: Software Construction Enterprises
[Sources]
- (No external sources used; diagrams and content are original.)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99504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822960" y="1417320"/>
            <a:ext cx="10543032" cy="3840480"/>
          </a:xfrm>
          <a:prstGeom prst="roundRect">
            <a:avLst/>
          </a:prstGeom>
          <a:solidFill>
            <a:srgbClr val="FFFFFF"/>
          </a:solidFill>
          <a:ln w="12700">
            <a:solidFill>
              <a:srgbClr val="D1D5DB"/>
            </a:solidFill>
            <a:prstDash val="solid"/>
          </a:ln>
          <a:effectLst>
            <a:outerShdw blurRad="50800" dist="12700" dir="2700000" algn="bl" rotWithShape="0">
              <a:srgbClr val="000000">
                <a:alpha val="12000"/>
              </a:srgbClr>
            </a:outerShdw>
          </a:effectLst>
        </p:spPr>
      </p:sp>
      <p:sp>
        <p:nvSpPr>
          <p:cNvPr id="4" name="Text 2"/>
          <p:cNvSpPr/>
          <p:nvPr/>
        </p:nvSpPr>
        <p:spPr>
          <a:xfrm>
            <a:off x="1280160" y="1874520"/>
            <a:ext cx="9692640" cy="1280160"/>
          </a:xfrm>
          <a:prstGeom prst="rect">
            <a:avLst/>
          </a:prstGeom>
          <a:noFill/>
          <a:ln/>
        </p:spPr>
        <p:txBody>
          <a:bodyPr wrap="square" rtlCol="0" anchor="ctr"/>
          <a:lstStyle/>
          <a:p>
            <a:r>
              <a:rPr lang="en-US" sz="3600" b="1" dirty="0"/>
              <a:t>AR &amp; VR Based Object Information Display Application</a:t>
            </a:r>
          </a:p>
        </p:txBody>
      </p:sp>
      <p:sp>
        <p:nvSpPr>
          <p:cNvPr id="5" name="Text 3"/>
          <p:cNvSpPr/>
          <p:nvPr/>
        </p:nvSpPr>
        <p:spPr>
          <a:xfrm>
            <a:off x="1280160" y="3246120"/>
            <a:ext cx="9692640" cy="365760"/>
          </a:xfrm>
          <a:prstGeom prst="rect">
            <a:avLst/>
          </a:prstGeom>
          <a:noFill/>
          <a:ln/>
        </p:spPr>
        <p:txBody>
          <a:bodyPr wrap="square" rtlCol="0" anchor="ctr"/>
          <a:lstStyle/>
          <a:p>
            <a:pPr marL="0" indent="0">
              <a:buNone/>
            </a:pPr>
            <a:r>
              <a:rPr lang="en-US" sz="1800" dirty="0" smtClean="0">
                <a:solidFill>
                  <a:srgbClr val="374151"/>
                </a:solidFill>
                <a:latin typeface="Calibri" pitchFamily="34" charset="0"/>
                <a:ea typeface="Calibri" pitchFamily="34" charset="-122"/>
                <a:cs typeface="Calibri" pitchFamily="34" charset="-120"/>
              </a:rPr>
              <a:t>Advanced Topics in HCI</a:t>
            </a:r>
            <a:endParaRPr lang="en-US" sz="1800" dirty="0"/>
          </a:p>
        </p:txBody>
      </p:sp>
      <p:sp>
        <p:nvSpPr>
          <p:cNvPr id="6" name="Shape 4"/>
          <p:cNvSpPr/>
          <p:nvPr/>
        </p:nvSpPr>
        <p:spPr>
          <a:xfrm>
            <a:off x="1280160" y="3840480"/>
            <a:ext cx="1463040" cy="73152"/>
          </a:xfrm>
          <a:prstGeom prst="rect">
            <a:avLst/>
          </a:prstGeom>
          <a:solidFill>
            <a:srgbClr val="2563EB"/>
          </a:solidFill>
          <a:ln w="12700">
            <a:solidFill>
              <a:srgbClr val="2563EB"/>
            </a:solidFill>
            <a:prstDash val="solid"/>
          </a:ln>
        </p:spPr>
      </p:sp>
      <p:sp>
        <p:nvSpPr>
          <p:cNvPr id="7" name="Text 5"/>
          <p:cNvSpPr/>
          <p:nvPr/>
        </p:nvSpPr>
        <p:spPr>
          <a:xfrm>
            <a:off x="1280160" y="4114800"/>
            <a:ext cx="9692640" cy="32004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Prepared by: </a:t>
            </a:r>
            <a:r>
              <a:rPr lang="en-US" sz="1600" dirty="0" smtClean="0">
                <a:solidFill>
                  <a:srgbClr val="374151"/>
                </a:solidFill>
                <a:latin typeface="Calibri" pitchFamily="34" charset="0"/>
                <a:ea typeface="Calibri" pitchFamily="34" charset="-122"/>
                <a:cs typeface="Calibri" pitchFamily="34" charset="-120"/>
              </a:rPr>
              <a:t>Ahmed Ibrahim and Khaled </a:t>
            </a:r>
            <a:r>
              <a:rPr lang="en-US" sz="1600" dirty="0">
                <a:solidFill>
                  <a:srgbClr val="374151"/>
                </a:solidFill>
                <a:latin typeface="Calibri" pitchFamily="34" charset="0"/>
                <a:ea typeface="Calibri" pitchFamily="34" charset="-122"/>
                <a:cs typeface="Calibri" pitchFamily="34" charset="-120"/>
              </a:rPr>
              <a:t>Amr</a:t>
            </a:r>
            <a:endParaRPr lang="en-US" sz="1600" dirty="0"/>
          </a:p>
        </p:txBody>
      </p:sp>
      <p:sp>
        <p:nvSpPr>
          <p:cNvPr id="8" name="Text 6"/>
          <p:cNvSpPr/>
          <p:nvPr/>
        </p:nvSpPr>
        <p:spPr>
          <a:xfrm>
            <a:off x="1280160" y="4434840"/>
            <a:ext cx="9692640" cy="320040"/>
          </a:xfrm>
          <a:prstGeom prst="rect">
            <a:avLst/>
          </a:prstGeom>
          <a:noFill/>
          <a:ln/>
        </p:spPr>
        <p:txBody>
          <a:bodyPr wrap="square" rtlCol="0" anchor="ctr"/>
          <a:lstStyle/>
          <a:p>
            <a:pPr marL="0" indent="0">
              <a:buNone/>
            </a:pPr>
            <a:r>
              <a:rPr lang="en-US" sz="1400" dirty="0" smtClean="0">
                <a:solidFill>
                  <a:srgbClr val="374151"/>
                </a:solidFill>
                <a:latin typeface="Calibri" pitchFamily="34" charset="0"/>
                <a:ea typeface="Calibri" pitchFamily="34" charset="-122"/>
                <a:cs typeface="Calibri" pitchFamily="34" charset="-120"/>
              </a:rPr>
              <a:t>May 2026</a:t>
            </a:r>
            <a:endParaRPr lang="en-US" sz="1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94360"/>
          </a:xfrm>
          <a:prstGeom prst="rect">
            <a:avLst/>
          </a:prstGeom>
          <a:solidFill>
            <a:srgbClr val="2563EB"/>
          </a:solidFill>
          <a:ln w="12700">
            <a:solidFill>
              <a:srgbClr val="2563EB"/>
            </a:solidFill>
            <a:prstDash val="solid"/>
          </a:ln>
        </p:spPr>
      </p:sp>
      <p:sp>
        <p:nvSpPr>
          <p:cNvPr id="3" name="Text 1"/>
          <p:cNvSpPr/>
          <p:nvPr/>
        </p:nvSpPr>
        <p:spPr>
          <a:xfrm>
            <a:off x="548640" y="128016"/>
            <a:ext cx="11155680" cy="365760"/>
          </a:xfrm>
          <a:prstGeom prst="rect">
            <a:avLst/>
          </a:prstGeom>
          <a:noFill/>
          <a:ln/>
        </p:spPr>
        <p:txBody>
          <a:bodyPr wrap="square" rtlCol="0" anchor="ctr"/>
          <a:lstStyle/>
          <a:p>
            <a:pPr marL="0" indent="0">
              <a:buNone/>
            </a:pPr>
            <a:r>
              <a:rPr lang="en-US" sz="2000" b="1" dirty="0" smtClean="0">
                <a:solidFill>
                  <a:srgbClr val="FFFFFF"/>
                </a:solidFill>
                <a:latin typeface="Calibri" pitchFamily="34" charset="0"/>
                <a:ea typeface="Calibri" pitchFamily="34" charset="-122"/>
                <a:cs typeface="Calibri" pitchFamily="34" charset="-120"/>
              </a:rPr>
              <a:t>INTRODUCTION</a:t>
            </a:r>
            <a:endParaRPr lang="en-US" sz="2000" dirty="0"/>
          </a:p>
        </p:txBody>
      </p:sp>
      <p:sp>
        <p:nvSpPr>
          <p:cNvPr id="4" name="Shape 2"/>
          <p:cNvSpPr/>
          <p:nvPr/>
        </p:nvSpPr>
        <p:spPr>
          <a:xfrm>
            <a:off x="731519" y="1005840"/>
            <a:ext cx="10823171" cy="5257800"/>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sp>
      <p:sp>
        <p:nvSpPr>
          <p:cNvPr id="5" name="Text 3"/>
          <p:cNvSpPr/>
          <p:nvPr/>
        </p:nvSpPr>
        <p:spPr>
          <a:xfrm>
            <a:off x="960120" y="1188720"/>
            <a:ext cx="4983480" cy="320040"/>
          </a:xfrm>
          <a:prstGeom prst="rect">
            <a:avLst/>
          </a:prstGeom>
          <a:noFill/>
          <a:ln/>
        </p:spPr>
        <p:txBody>
          <a:bodyPr wrap="square" rtlCol="0" anchor="ctr"/>
          <a:lstStyle/>
          <a:p>
            <a:pPr marL="0" indent="0">
              <a:buNone/>
            </a:pPr>
            <a:endParaRPr lang="en-US" sz="1600" dirty="0"/>
          </a:p>
        </p:txBody>
      </p:sp>
      <p:sp>
        <p:nvSpPr>
          <p:cNvPr id="6" name="Text 4"/>
          <p:cNvSpPr/>
          <p:nvPr/>
        </p:nvSpPr>
        <p:spPr>
          <a:xfrm>
            <a:off x="1072819" y="1536920"/>
            <a:ext cx="5993000" cy="4543839"/>
          </a:xfrm>
          <a:prstGeom prst="rect">
            <a:avLst/>
          </a:prstGeom>
          <a:noFill/>
          <a:ln/>
        </p:spPr>
        <p:txBody>
          <a:bodyPr wrap="square" rtlCol="0" anchor="t"/>
          <a:lstStyle/>
          <a:p>
            <a:endParaRPr lang="en-US" sz="1400" dirty="0"/>
          </a:p>
          <a:p>
            <a:r>
              <a:rPr lang="en-US" sz="1400" dirty="0"/>
              <a:t>Augmented Reality and Virtual Reality are important technologies in modern computer science.</a:t>
            </a:r>
          </a:p>
          <a:p>
            <a:endParaRPr lang="en-US" sz="1400" dirty="0" smtClean="0"/>
          </a:p>
          <a:p>
            <a:r>
              <a:rPr lang="en-US" sz="1400" dirty="0" smtClean="0"/>
              <a:t>They </a:t>
            </a:r>
            <a:r>
              <a:rPr lang="en-US" sz="1400" dirty="0"/>
              <a:t>allow users to interact with digital content in a more visual and immersive way.</a:t>
            </a:r>
          </a:p>
          <a:p>
            <a:endParaRPr lang="en-US" sz="1400" dirty="0" smtClean="0"/>
          </a:p>
          <a:p>
            <a:r>
              <a:rPr lang="en-US" sz="1400" dirty="0" smtClean="0"/>
              <a:t>In </a:t>
            </a:r>
            <a:r>
              <a:rPr lang="en-US" sz="1400" dirty="0"/>
              <a:t>our project, we focus on using </a:t>
            </a:r>
            <a:r>
              <a:rPr lang="en-US" sz="1400" b="1" dirty="0"/>
              <a:t>Augmented Reality</a:t>
            </a:r>
            <a:r>
              <a:rPr lang="en-US" sz="1400" dirty="0"/>
              <a:t> to display object information directly inside the real world.</a:t>
            </a:r>
          </a:p>
          <a:p>
            <a:endParaRPr lang="en-US" sz="1400" dirty="0" smtClean="0"/>
          </a:p>
          <a:p>
            <a:r>
              <a:rPr lang="en-US" sz="1400" dirty="0" smtClean="0"/>
              <a:t>The </a:t>
            </a:r>
            <a:r>
              <a:rPr lang="en-US" sz="1400" dirty="0"/>
              <a:t>main idea is simple:</a:t>
            </a:r>
          </a:p>
          <a:p>
            <a:pPr marL="285750" indent="-285750">
              <a:buFont typeface="Arial" panose="020B0604020202020204" pitchFamily="34" charset="0"/>
              <a:buChar char="•"/>
            </a:pPr>
            <a:r>
              <a:rPr lang="en-US" sz="1400" dirty="0"/>
              <a:t>The camera views a real object </a:t>
            </a:r>
          </a:p>
          <a:p>
            <a:pPr marL="285750" indent="-285750">
              <a:buFont typeface="Arial" panose="020B0604020202020204" pitchFamily="34" charset="0"/>
              <a:buChar char="•"/>
            </a:pPr>
            <a:r>
              <a:rPr lang="en-US" sz="1400" dirty="0"/>
              <a:t>The application places a label above it </a:t>
            </a:r>
          </a:p>
          <a:p>
            <a:pPr marL="285750" indent="-285750">
              <a:buFont typeface="Arial" panose="020B0604020202020204" pitchFamily="34" charset="0"/>
              <a:buChar char="•"/>
            </a:pPr>
            <a:r>
              <a:rPr lang="en-US" sz="1400" dirty="0"/>
              <a:t>The label shows the object name or type </a:t>
            </a:r>
          </a:p>
          <a:p>
            <a:r>
              <a:rPr lang="en-US" sz="1400" dirty="0"/>
              <a:t>Later, the label can show extra details using AI and database integration </a:t>
            </a:r>
          </a:p>
          <a:p>
            <a:endParaRPr lang="en-US" sz="1400" b="1" dirty="0" smtClean="0"/>
          </a:p>
          <a:p>
            <a:r>
              <a:rPr lang="en-US" sz="1400" b="1" dirty="0" smtClean="0"/>
              <a:t>Example</a:t>
            </a:r>
            <a:r>
              <a:rPr lang="en-US" sz="1400" b="1" dirty="0"/>
              <a:t>:</a:t>
            </a:r>
            <a:r>
              <a:rPr lang="en-US" sz="1400" dirty="0"/>
              <a:t/>
            </a:r>
            <a:br>
              <a:rPr lang="en-US" sz="1400" dirty="0"/>
            </a:br>
            <a:r>
              <a:rPr lang="en-US" sz="1400" dirty="0"/>
              <a:t>A car appears in the camera view, and the app displays:</a:t>
            </a:r>
            <a:br>
              <a:rPr lang="en-US" sz="1400" dirty="0"/>
            </a:br>
            <a:endParaRPr lang="en-US" sz="1400" dirty="0"/>
          </a:p>
        </p:txBody>
      </p:sp>
      <p:sp>
        <p:nvSpPr>
          <p:cNvPr id="9" name="Text 7"/>
          <p:cNvSpPr/>
          <p:nvPr/>
        </p:nvSpPr>
        <p:spPr>
          <a:xfrm>
            <a:off x="6583680" y="1600200"/>
            <a:ext cx="4645152" cy="4480560"/>
          </a:xfrm>
          <a:prstGeom prst="rect">
            <a:avLst/>
          </a:prstGeom>
          <a:noFill/>
          <a:ln/>
        </p:spPr>
        <p:txBody>
          <a:bodyPr wrap="square" rtlCol="0" anchor="t"/>
          <a:lstStyle/>
          <a:p>
            <a:pPr marL="228600" indent="-228600">
              <a:spcAft>
                <a:spcPts val="600"/>
              </a:spcAft>
              <a:buSzPct val="100000"/>
              <a:buChar char="•"/>
            </a:pPr>
            <a:endParaRPr lang="en-US" sz="1300" dirty="0"/>
          </a:p>
        </p:txBody>
      </p:sp>
      <p:sp>
        <p:nvSpPr>
          <p:cNvPr id="10" name="Shape 8"/>
          <p:cNvSpPr/>
          <p:nvPr/>
        </p:nvSpPr>
        <p:spPr>
          <a:xfrm>
            <a:off x="0" y="6537960"/>
            <a:ext cx="12188952" cy="320040"/>
          </a:xfrm>
          <a:prstGeom prst="rect">
            <a:avLst/>
          </a:prstGeom>
          <a:solidFill>
            <a:srgbClr val="F3F4F6"/>
          </a:solidFill>
          <a:ln w="12700">
            <a:solidFill>
              <a:srgbClr val="F3F4F6"/>
            </a:solidFill>
            <a:prstDash val="solid"/>
          </a:ln>
        </p:spPr>
      </p:sp>
      <p:sp>
        <p:nvSpPr>
          <p:cNvPr id="11" name="Text 9"/>
          <p:cNvSpPr/>
          <p:nvPr/>
        </p:nvSpPr>
        <p:spPr>
          <a:xfrm>
            <a:off x="548640" y="6592824"/>
            <a:ext cx="11155680" cy="228600"/>
          </a:xfrm>
          <a:prstGeom prst="rect">
            <a:avLst/>
          </a:prstGeom>
          <a:noFill/>
          <a:ln/>
        </p:spPr>
        <p:txBody>
          <a:bodyPr wrap="square" rtlCol="0" anchor="ctr"/>
          <a:lstStyle/>
          <a:p>
            <a:pPr marL="0" indent="0" algn="r">
              <a:buNone/>
            </a:pPr>
            <a:endParaRPr lang="en-US" sz="1200" dirty="0"/>
          </a:p>
        </p:txBody>
      </p:sp>
      <p:pic>
        <p:nvPicPr>
          <p:cNvPr id="1026" name="Picture 2" descr="Real-Time Object Detection on Mobile Using YOLOv11 | by Inbasekaran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7554" y="2537865"/>
            <a:ext cx="3745400" cy="2496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94360"/>
          </a:xfrm>
          <a:prstGeom prst="rect">
            <a:avLst/>
          </a:prstGeom>
          <a:solidFill>
            <a:srgbClr val="2563EB"/>
          </a:solidFill>
          <a:ln w="12700">
            <a:solidFill>
              <a:srgbClr val="2563EB"/>
            </a:solidFill>
            <a:prstDash val="solid"/>
          </a:ln>
        </p:spPr>
      </p:sp>
      <p:sp>
        <p:nvSpPr>
          <p:cNvPr id="3" name="Text 1"/>
          <p:cNvSpPr/>
          <p:nvPr/>
        </p:nvSpPr>
        <p:spPr>
          <a:xfrm>
            <a:off x="548640" y="128016"/>
            <a:ext cx="11155680" cy="365760"/>
          </a:xfrm>
          <a:prstGeom prst="rect">
            <a:avLst/>
          </a:prstGeom>
          <a:noFill/>
          <a:ln/>
        </p:spPr>
        <p:txBody>
          <a:bodyPr wrap="square" rtlCol="0" anchor="ctr"/>
          <a:lstStyle/>
          <a:p>
            <a:pPr marL="0" indent="0">
              <a:buNone/>
            </a:pPr>
            <a:r>
              <a:rPr lang="en-US" sz="2000" b="1" dirty="0" smtClean="0">
                <a:solidFill>
                  <a:srgbClr val="FFFFFF"/>
                </a:solidFill>
                <a:latin typeface="Calibri" pitchFamily="34" charset="0"/>
                <a:ea typeface="Calibri" pitchFamily="34" charset="-122"/>
                <a:cs typeface="Calibri" pitchFamily="34" charset="-120"/>
              </a:rPr>
              <a:t>AR VS VR</a:t>
            </a:r>
            <a:endParaRPr lang="en-US" sz="2000" dirty="0"/>
          </a:p>
        </p:txBody>
      </p:sp>
      <p:sp>
        <p:nvSpPr>
          <p:cNvPr id="4" name="Shape 2"/>
          <p:cNvSpPr/>
          <p:nvPr/>
        </p:nvSpPr>
        <p:spPr>
          <a:xfrm>
            <a:off x="685800" y="1005840"/>
            <a:ext cx="5715000" cy="1866669"/>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txBody>
          <a:bodyPr/>
          <a:lstStyle/>
          <a:p>
            <a:endParaRPr lang="en-US"/>
          </a:p>
        </p:txBody>
      </p:sp>
      <p:sp>
        <p:nvSpPr>
          <p:cNvPr id="5" name="Text 3"/>
          <p:cNvSpPr/>
          <p:nvPr/>
        </p:nvSpPr>
        <p:spPr>
          <a:xfrm>
            <a:off x="960120" y="1188720"/>
            <a:ext cx="5257800" cy="320040"/>
          </a:xfrm>
          <a:prstGeom prst="rect">
            <a:avLst/>
          </a:prstGeom>
          <a:noFill/>
          <a:ln/>
        </p:spPr>
        <p:txBody>
          <a:bodyPr wrap="square" rtlCol="0" anchor="ctr"/>
          <a:lstStyle/>
          <a:p>
            <a:r>
              <a:rPr lang="en-US" sz="1600" b="1" dirty="0"/>
              <a:t>AUGMENTED REALITY </a:t>
            </a:r>
            <a:r>
              <a:rPr lang="en-US" sz="1600" b="1" dirty="0" smtClean="0"/>
              <a:t>(AR)</a:t>
            </a:r>
            <a:endParaRPr lang="en-US" sz="1600" b="1" dirty="0"/>
          </a:p>
        </p:txBody>
      </p:sp>
      <p:sp>
        <p:nvSpPr>
          <p:cNvPr id="6" name="Text 4"/>
          <p:cNvSpPr/>
          <p:nvPr/>
        </p:nvSpPr>
        <p:spPr>
          <a:xfrm>
            <a:off x="960120" y="1600200"/>
            <a:ext cx="5257800" cy="4480560"/>
          </a:xfrm>
          <a:prstGeom prst="rect">
            <a:avLst/>
          </a:prstGeom>
          <a:noFill/>
          <a:ln/>
        </p:spPr>
        <p:txBody>
          <a:bodyPr wrap="square" rtlCol="0" anchor="t"/>
          <a:lstStyle/>
          <a:p>
            <a:pPr marL="285750" indent="-285750">
              <a:spcAft>
                <a:spcPts val="600"/>
              </a:spcAft>
              <a:buSzPct val="100000"/>
              <a:buFont typeface="Arial" panose="020B0604020202020204" pitchFamily="34" charset="0"/>
              <a:buChar char="•"/>
            </a:pPr>
            <a:r>
              <a:rPr lang="en-US" sz="1300" dirty="0">
                <a:solidFill>
                  <a:srgbClr val="374151"/>
                </a:solidFill>
                <a:latin typeface="Calibri" pitchFamily="34" charset="0"/>
                <a:ea typeface="Calibri" pitchFamily="34" charset="-122"/>
                <a:cs typeface="Calibri" pitchFamily="34" charset="-120"/>
              </a:rPr>
              <a:t>Adds digital information to the real world</a:t>
            </a:r>
          </a:p>
          <a:p>
            <a:pPr marL="285750" indent="-285750">
              <a:spcAft>
                <a:spcPts val="600"/>
              </a:spcAft>
              <a:buSzPct val="100000"/>
              <a:buFont typeface="Arial" panose="020B0604020202020204" pitchFamily="34" charset="0"/>
              <a:buChar char="•"/>
            </a:pPr>
            <a:r>
              <a:rPr lang="en-US" sz="1300" dirty="0">
                <a:solidFill>
                  <a:srgbClr val="374151"/>
                </a:solidFill>
                <a:latin typeface="Calibri" pitchFamily="34" charset="0"/>
                <a:ea typeface="Calibri" pitchFamily="34" charset="-122"/>
                <a:cs typeface="Calibri" pitchFamily="34" charset="-120"/>
              </a:rPr>
              <a:t>Uses mobile camera</a:t>
            </a:r>
          </a:p>
          <a:p>
            <a:pPr marL="285750" indent="-285750">
              <a:spcAft>
                <a:spcPts val="600"/>
              </a:spcAft>
              <a:buSzPct val="100000"/>
              <a:buFont typeface="Arial" panose="020B0604020202020204" pitchFamily="34" charset="0"/>
              <a:buChar char="•"/>
            </a:pPr>
            <a:r>
              <a:rPr lang="en-US" sz="1300" dirty="0">
                <a:solidFill>
                  <a:srgbClr val="374151"/>
                </a:solidFill>
                <a:latin typeface="Calibri" pitchFamily="34" charset="0"/>
                <a:ea typeface="Calibri" pitchFamily="34" charset="-122"/>
                <a:cs typeface="Calibri" pitchFamily="34" charset="-120"/>
              </a:rPr>
              <a:t>User still sees real environment</a:t>
            </a:r>
          </a:p>
          <a:p>
            <a:pPr marL="285750" indent="-285750">
              <a:spcAft>
                <a:spcPts val="600"/>
              </a:spcAft>
              <a:buSzPct val="100000"/>
              <a:buFont typeface="Arial" panose="020B0604020202020204" pitchFamily="34" charset="0"/>
              <a:buChar char="•"/>
            </a:pPr>
            <a:r>
              <a:rPr lang="en-US" sz="1300" dirty="0">
                <a:solidFill>
                  <a:srgbClr val="374151"/>
                </a:solidFill>
                <a:latin typeface="Calibri" pitchFamily="34" charset="0"/>
                <a:ea typeface="Calibri" pitchFamily="34" charset="-122"/>
                <a:cs typeface="Calibri" pitchFamily="34" charset="-120"/>
              </a:rPr>
              <a:t>Example: labels above objects</a:t>
            </a:r>
            <a:endParaRPr lang="en-US" sz="1300" dirty="0"/>
          </a:p>
        </p:txBody>
      </p:sp>
      <p:sp>
        <p:nvSpPr>
          <p:cNvPr id="7" name="Shape 5"/>
          <p:cNvSpPr/>
          <p:nvPr/>
        </p:nvSpPr>
        <p:spPr>
          <a:xfrm>
            <a:off x="6629400" y="1005840"/>
            <a:ext cx="4828032" cy="1866669"/>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sp>
      <p:sp>
        <p:nvSpPr>
          <p:cNvPr id="8" name="Text 6"/>
          <p:cNvSpPr/>
          <p:nvPr/>
        </p:nvSpPr>
        <p:spPr>
          <a:xfrm>
            <a:off x="6858000" y="1188720"/>
            <a:ext cx="4370832" cy="320040"/>
          </a:xfrm>
          <a:prstGeom prst="rect">
            <a:avLst/>
          </a:prstGeom>
          <a:noFill/>
          <a:ln/>
        </p:spPr>
        <p:txBody>
          <a:bodyPr wrap="square" rtlCol="0" anchor="ctr"/>
          <a:lstStyle/>
          <a:p>
            <a:r>
              <a:rPr lang="en-US" sz="1600" b="1" dirty="0" smtClean="0"/>
              <a:t>VIRTUAL REALITY (VR)</a:t>
            </a:r>
            <a:endParaRPr lang="en-US" sz="1600" b="1" dirty="0"/>
          </a:p>
        </p:txBody>
      </p:sp>
      <p:sp>
        <p:nvSpPr>
          <p:cNvPr id="9" name="Text 7"/>
          <p:cNvSpPr/>
          <p:nvPr/>
        </p:nvSpPr>
        <p:spPr>
          <a:xfrm>
            <a:off x="6858000" y="1600200"/>
            <a:ext cx="4370832" cy="4480560"/>
          </a:xfrm>
          <a:prstGeom prst="rect">
            <a:avLst/>
          </a:prstGeom>
          <a:noFill/>
          <a:ln/>
        </p:spPr>
        <p:txBody>
          <a:bodyPr wrap="square" rtlCol="0" anchor="t"/>
          <a:lstStyle/>
          <a:p>
            <a:pPr marL="285750" indent="-285750">
              <a:spcAft>
                <a:spcPts val="600"/>
              </a:spcAft>
              <a:buSzPct val="100000"/>
              <a:buFont typeface="Arial" panose="020B0604020202020204" pitchFamily="34" charset="0"/>
              <a:buChar char="•"/>
            </a:pPr>
            <a:r>
              <a:rPr lang="en-US" sz="1300" dirty="0">
                <a:solidFill>
                  <a:srgbClr val="374151"/>
                </a:solidFill>
                <a:latin typeface="Calibri" pitchFamily="34" charset="0"/>
                <a:ea typeface="Calibri" pitchFamily="34" charset="-122"/>
                <a:cs typeface="Calibri" pitchFamily="34" charset="-120"/>
              </a:rPr>
              <a:t>Creates fully virtual environment</a:t>
            </a:r>
          </a:p>
          <a:p>
            <a:pPr marL="285750" indent="-285750">
              <a:spcAft>
                <a:spcPts val="600"/>
              </a:spcAft>
              <a:buSzPct val="100000"/>
              <a:buFont typeface="Arial" panose="020B0604020202020204" pitchFamily="34" charset="0"/>
              <a:buChar char="•"/>
            </a:pPr>
            <a:r>
              <a:rPr lang="en-US" sz="1300" dirty="0">
                <a:solidFill>
                  <a:srgbClr val="374151"/>
                </a:solidFill>
                <a:latin typeface="Calibri" pitchFamily="34" charset="0"/>
                <a:ea typeface="Calibri" pitchFamily="34" charset="-122"/>
                <a:cs typeface="Calibri" pitchFamily="34" charset="-120"/>
              </a:rPr>
              <a:t>Uses VR headset</a:t>
            </a:r>
          </a:p>
          <a:p>
            <a:pPr marL="285750" indent="-285750">
              <a:spcAft>
                <a:spcPts val="600"/>
              </a:spcAft>
              <a:buSzPct val="100000"/>
              <a:buFont typeface="Arial" panose="020B0604020202020204" pitchFamily="34" charset="0"/>
              <a:buChar char="•"/>
            </a:pPr>
            <a:r>
              <a:rPr lang="en-US" sz="1300" dirty="0">
                <a:solidFill>
                  <a:srgbClr val="374151"/>
                </a:solidFill>
                <a:latin typeface="Calibri" pitchFamily="34" charset="0"/>
                <a:ea typeface="Calibri" pitchFamily="34" charset="-122"/>
                <a:cs typeface="Calibri" pitchFamily="34" charset="-120"/>
              </a:rPr>
              <a:t>Used in games and simulations</a:t>
            </a:r>
            <a:endParaRPr lang="en-US" sz="1300" dirty="0"/>
          </a:p>
        </p:txBody>
      </p:sp>
      <p:sp>
        <p:nvSpPr>
          <p:cNvPr id="10" name="Shape 8"/>
          <p:cNvSpPr/>
          <p:nvPr/>
        </p:nvSpPr>
        <p:spPr>
          <a:xfrm>
            <a:off x="0" y="6537960"/>
            <a:ext cx="12188952" cy="320040"/>
          </a:xfrm>
          <a:prstGeom prst="rect">
            <a:avLst/>
          </a:prstGeom>
          <a:solidFill>
            <a:srgbClr val="F3F4F6"/>
          </a:solidFill>
          <a:ln w="12700">
            <a:solidFill>
              <a:srgbClr val="F3F4F6"/>
            </a:solidFill>
            <a:prstDash val="solid"/>
          </a:ln>
        </p:spPr>
      </p:sp>
      <p:sp>
        <p:nvSpPr>
          <p:cNvPr id="11" name="Text 9"/>
          <p:cNvSpPr/>
          <p:nvPr/>
        </p:nvSpPr>
        <p:spPr>
          <a:xfrm>
            <a:off x="548640" y="6592824"/>
            <a:ext cx="11155680" cy="228600"/>
          </a:xfrm>
          <a:prstGeom prst="rect">
            <a:avLst/>
          </a:prstGeom>
          <a:noFill/>
          <a:ln/>
        </p:spPr>
        <p:txBody>
          <a:bodyPr wrap="square" rtlCol="0" anchor="ctr"/>
          <a:lstStyle/>
          <a:p>
            <a:pPr marL="0" indent="0" algn="r">
              <a:buNone/>
            </a:pPr>
            <a:endParaRPr lang="en-US" sz="1200" dirty="0"/>
          </a:p>
        </p:txBody>
      </p:sp>
      <p:pic>
        <p:nvPicPr>
          <p:cNvPr id="2051" name="Picture 3" descr="AR vs VR: What's The Differ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020" y="3392423"/>
            <a:ext cx="4788362" cy="28730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94360"/>
          </a:xfrm>
          <a:prstGeom prst="rect">
            <a:avLst/>
          </a:prstGeom>
          <a:solidFill>
            <a:srgbClr val="2563EB"/>
          </a:solidFill>
          <a:ln w="12700">
            <a:solidFill>
              <a:srgbClr val="2563EB"/>
            </a:solidFill>
            <a:prstDash val="solid"/>
          </a:ln>
        </p:spPr>
      </p:sp>
      <p:sp>
        <p:nvSpPr>
          <p:cNvPr id="3" name="Text 1"/>
          <p:cNvSpPr/>
          <p:nvPr/>
        </p:nvSpPr>
        <p:spPr>
          <a:xfrm>
            <a:off x="548640" y="128016"/>
            <a:ext cx="11155680" cy="365760"/>
          </a:xfrm>
          <a:prstGeom prst="rect">
            <a:avLst/>
          </a:prstGeom>
          <a:noFill/>
          <a:ln/>
        </p:spPr>
        <p:txBody>
          <a:bodyPr wrap="square" rtlCol="0" anchor="ctr"/>
          <a:lstStyle/>
          <a:p>
            <a:pPr marL="0" indent="0">
              <a:buNone/>
            </a:pPr>
            <a:r>
              <a:rPr lang="en-US" sz="2000" b="1" dirty="0" smtClean="0">
                <a:solidFill>
                  <a:srgbClr val="FFFFFF"/>
                </a:solidFill>
                <a:latin typeface="Calibri" pitchFamily="34" charset="0"/>
                <a:ea typeface="Calibri" pitchFamily="34" charset="-122"/>
                <a:cs typeface="Calibri" pitchFamily="34" charset="-120"/>
              </a:rPr>
              <a:t>RESEARCH</a:t>
            </a:r>
            <a:endParaRPr lang="en-US" sz="2000" dirty="0"/>
          </a:p>
        </p:txBody>
      </p:sp>
      <p:sp>
        <p:nvSpPr>
          <p:cNvPr id="4" name="Shape 2"/>
          <p:cNvSpPr/>
          <p:nvPr/>
        </p:nvSpPr>
        <p:spPr>
          <a:xfrm>
            <a:off x="317582" y="1051559"/>
            <a:ext cx="5943600" cy="4942676"/>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txBody>
          <a:bodyPr/>
          <a:lstStyle/>
          <a:p>
            <a:endParaRPr lang="en-US"/>
          </a:p>
        </p:txBody>
      </p:sp>
      <p:sp>
        <p:nvSpPr>
          <p:cNvPr id="5" name="Text 3"/>
          <p:cNvSpPr/>
          <p:nvPr/>
        </p:nvSpPr>
        <p:spPr>
          <a:xfrm>
            <a:off x="960120" y="1188720"/>
            <a:ext cx="5257800" cy="320040"/>
          </a:xfrm>
          <a:prstGeom prst="rect">
            <a:avLst/>
          </a:prstGeom>
          <a:noFill/>
          <a:ln/>
        </p:spPr>
        <p:txBody>
          <a:bodyPr wrap="square" rtlCol="0" anchor="ctr"/>
          <a:lstStyle/>
          <a:p>
            <a:r>
              <a:rPr lang="en-US" sz="1600" b="1" dirty="0" smtClean="0"/>
              <a:t>Research Problem</a:t>
            </a:r>
            <a:endParaRPr lang="en-US" sz="1600" b="1" dirty="0"/>
          </a:p>
        </p:txBody>
      </p:sp>
      <p:sp>
        <p:nvSpPr>
          <p:cNvPr id="6" name="Text 4"/>
          <p:cNvSpPr/>
          <p:nvPr/>
        </p:nvSpPr>
        <p:spPr>
          <a:xfrm>
            <a:off x="960120" y="1600200"/>
            <a:ext cx="5257800" cy="4480560"/>
          </a:xfrm>
          <a:prstGeom prst="rect">
            <a:avLst/>
          </a:prstGeom>
          <a:noFill/>
          <a:ln/>
        </p:spPr>
        <p:txBody>
          <a:bodyPr wrap="square" rtlCol="0" anchor="t"/>
          <a:lstStyle/>
          <a:p>
            <a:r>
              <a:rPr lang="en-US" dirty="0" smtClean="0"/>
              <a:t>Engineering </a:t>
            </a:r>
            <a:r>
              <a:rPr lang="en-US" dirty="0"/>
              <a:t>students often struggle with abstract programming concepts, especially Python collection data types:</a:t>
            </a:r>
          </a:p>
          <a:p>
            <a:pPr lvl="1">
              <a:buFont typeface="Arial" panose="020B0604020202020204" pitchFamily="34" charset="0"/>
              <a:buChar char="•"/>
            </a:pPr>
            <a:r>
              <a:rPr lang="en-US" dirty="0"/>
              <a:t>Lists </a:t>
            </a:r>
          </a:p>
          <a:p>
            <a:pPr lvl="1">
              <a:buFont typeface="Arial" panose="020B0604020202020204" pitchFamily="34" charset="0"/>
              <a:buChar char="•"/>
            </a:pPr>
            <a:r>
              <a:rPr lang="en-US" dirty="0"/>
              <a:t>Tuples </a:t>
            </a:r>
          </a:p>
          <a:p>
            <a:pPr lvl="1">
              <a:buFont typeface="Arial" panose="020B0604020202020204" pitchFamily="34" charset="0"/>
              <a:buChar char="•"/>
            </a:pPr>
            <a:r>
              <a:rPr lang="en-US" dirty="0"/>
              <a:t>Sets </a:t>
            </a:r>
          </a:p>
          <a:p>
            <a:pPr lvl="1">
              <a:buFont typeface="Arial" panose="020B0604020202020204" pitchFamily="34" charset="0"/>
              <a:buChar char="•"/>
            </a:pPr>
            <a:r>
              <a:rPr lang="en-US" dirty="0"/>
              <a:t>Dictionaries </a:t>
            </a:r>
          </a:p>
          <a:p>
            <a:r>
              <a:rPr lang="en-US" b="1" dirty="0"/>
              <a:t>Research Objective</a:t>
            </a:r>
          </a:p>
          <a:p>
            <a:r>
              <a:rPr lang="en-US" dirty="0"/>
              <a:t>The study explores how:</a:t>
            </a:r>
          </a:p>
          <a:p>
            <a:pPr lvl="1">
              <a:buFont typeface="Arial" panose="020B0604020202020204" pitchFamily="34" charset="0"/>
              <a:buChar char="•"/>
            </a:pPr>
            <a:r>
              <a:rPr lang="en-US" b="1" dirty="0"/>
              <a:t>Augmented Reality (AR)</a:t>
            </a:r>
            <a:r>
              <a:rPr lang="en-US" dirty="0"/>
              <a:t> </a:t>
            </a:r>
          </a:p>
          <a:p>
            <a:pPr lvl="1">
              <a:buFont typeface="Arial" panose="020B0604020202020204" pitchFamily="34" charset="0"/>
              <a:buChar char="•"/>
            </a:pPr>
            <a:r>
              <a:rPr lang="en-US" b="1" dirty="0"/>
              <a:t>Virtual Reality (VR)</a:t>
            </a:r>
            <a:r>
              <a:rPr lang="en-US" dirty="0"/>
              <a:t> </a:t>
            </a:r>
          </a:p>
          <a:p>
            <a:pPr lvl="1">
              <a:buFont typeface="Arial" panose="020B0604020202020204" pitchFamily="34" charset="0"/>
              <a:buChar char="•"/>
            </a:pPr>
            <a:r>
              <a:rPr lang="en-US" b="1" dirty="0"/>
              <a:t>Artificial Intelligence (AI)</a:t>
            </a:r>
            <a:r>
              <a:rPr lang="en-US" dirty="0"/>
              <a:t> </a:t>
            </a:r>
          </a:p>
        </p:txBody>
      </p:sp>
      <p:sp>
        <p:nvSpPr>
          <p:cNvPr id="7" name="Shape 5"/>
          <p:cNvSpPr/>
          <p:nvPr/>
        </p:nvSpPr>
        <p:spPr>
          <a:xfrm>
            <a:off x="6449961" y="950975"/>
            <a:ext cx="5437239" cy="5243347"/>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sp>
      <p:sp>
        <p:nvSpPr>
          <p:cNvPr id="9" name="Text 7"/>
          <p:cNvSpPr/>
          <p:nvPr/>
        </p:nvSpPr>
        <p:spPr>
          <a:xfrm>
            <a:off x="6858000" y="1105686"/>
            <a:ext cx="4846320" cy="4480560"/>
          </a:xfrm>
          <a:prstGeom prst="rect">
            <a:avLst/>
          </a:prstGeom>
          <a:noFill/>
          <a:ln/>
        </p:spPr>
        <p:txBody>
          <a:bodyPr wrap="square" rtlCol="0" anchor="t"/>
          <a:lstStyle/>
          <a:p>
            <a:r>
              <a:rPr lang="en-US" sz="1700" dirty="0"/>
              <a:t>We can make programming concepts more interactive and easier to understand.</a:t>
            </a:r>
          </a:p>
          <a:p>
            <a:r>
              <a:rPr lang="en-US" sz="1700" dirty="0"/>
              <a:t>EEG (Electroencephalography) was also used to measure:</a:t>
            </a:r>
          </a:p>
          <a:p>
            <a:pPr lvl="1">
              <a:buFont typeface="Arial" panose="020B0604020202020204" pitchFamily="34" charset="0"/>
              <a:buChar char="•"/>
            </a:pPr>
            <a:r>
              <a:rPr lang="en-US" sz="1700" dirty="0"/>
              <a:t>Attention </a:t>
            </a:r>
          </a:p>
          <a:p>
            <a:pPr lvl="1">
              <a:buFont typeface="Arial" panose="020B0604020202020204" pitchFamily="34" charset="0"/>
              <a:buChar char="•"/>
            </a:pPr>
            <a:r>
              <a:rPr lang="en-US" sz="1700" dirty="0"/>
              <a:t>Engagement </a:t>
            </a:r>
          </a:p>
          <a:p>
            <a:pPr lvl="1">
              <a:buFont typeface="Arial" panose="020B0604020202020204" pitchFamily="34" charset="0"/>
              <a:buChar char="•"/>
            </a:pPr>
            <a:r>
              <a:rPr lang="en-US" sz="1700" dirty="0"/>
              <a:t>Learning effectiveness </a:t>
            </a:r>
          </a:p>
          <a:p>
            <a:r>
              <a:rPr lang="en-US" sz="1700" b="1" dirty="0"/>
              <a:t>Learning Approaches Evaluated</a:t>
            </a:r>
          </a:p>
          <a:p>
            <a:pPr>
              <a:buFont typeface="+mj-lt"/>
              <a:buAutoNum type="arabicPeriod"/>
            </a:pPr>
            <a:r>
              <a:rPr lang="en-US" sz="1700" b="1" dirty="0"/>
              <a:t>Paper-based Booklet</a:t>
            </a:r>
            <a:r>
              <a:rPr lang="en-US" sz="1700" dirty="0"/>
              <a:t> – Traditional learning method (control group) </a:t>
            </a:r>
          </a:p>
          <a:p>
            <a:pPr>
              <a:buFont typeface="+mj-lt"/>
              <a:buAutoNum type="arabicPeriod"/>
            </a:pPr>
            <a:r>
              <a:rPr lang="en-US" sz="1700" b="1" dirty="0"/>
              <a:t>AR Application</a:t>
            </a:r>
            <a:r>
              <a:rPr lang="en-US" sz="1700" dirty="0"/>
              <a:t> – Visualized Python data structures as interactive 3D objects </a:t>
            </a:r>
          </a:p>
          <a:p>
            <a:pPr>
              <a:buFont typeface="+mj-lt"/>
              <a:buAutoNum type="arabicPeriod"/>
            </a:pPr>
            <a:r>
              <a:rPr lang="en-US" sz="1700" b="1" dirty="0"/>
              <a:t>VR Application</a:t>
            </a:r>
            <a:r>
              <a:rPr lang="en-US" sz="1700" dirty="0"/>
              <a:t> – Immersive environment for interacting with data structures </a:t>
            </a:r>
          </a:p>
          <a:p>
            <a:pPr>
              <a:buFont typeface="+mj-lt"/>
              <a:buAutoNum type="arabicPeriod"/>
            </a:pPr>
            <a:r>
              <a:rPr lang="en-US" sz="1700" b="1" dirty="0"/>
              <a:t>AI-Enhanced VR Application</a:t>
            </a:r>
            <a:r>
              <a:rPr lang="en-US" sz="1700" dirty="0"/>
              <a:t> – Included an AI assistant for: </a:t>
            </a:r>
          </a:p>
          <a:p>
            <a:pPr marL="742950" lvl="1" indent="-285750">
              <a:buFont typeface="+mj-lt"/>
              <a:buAutoNum type="arabicPeriod"/>
            </a:pPr>
            <a:r>
              <a:rPr lang="en-US" sz="1700" dirty="0"/>
              <a:t>Real-time feedback </a:t>
            </a:r>
          </a:p>
          <a:p>
            <a:pPr marL="742950" lvl="1" indent="-285750">
              <a:buFont typeface="+mj-lt"/>
              <a:buAutoNum type="arabicPeriod"/>
            </a:pPr>
            <a:r>
              <a:rPr lang="en-US" sz="1700" dirty="0"/>
              <a:t>Personalized guidance </a:t>
            </a:r>
          </a:p>
          <a:p>
            <a:pPr marL="742950" lvl="1" indent="-285750">
              <a:buFont typeface="+mj-lt"/>
              <a:buAutoNum type="arabicPeriod"/>
            </a:pPr>
            <a:r>
              <a:rPr lang="en-US" sz="1700" dirty="0"/>
              <a:t>Student support</a:t>
            </a:r>
            <a:endParaRPr lang="en-US" sz="1700" dirty="0"/>
          </a:p>
        </p:txBody>
      </p:sp>
      <p:sp>
        <p:nvSpPr>
          <p:cNvPr id="10" name="Shape 8"/>
          <p:cNvSpPr/>
          <p:nvPr/>
        </p:nvSpPr>
        <p:spPr>
          <a:xfrm>
            <a:off x="0" y="6537960"/>
            <a:ext cx="12188952" cy="320040"/>
          </a:xfrm>
          <a:prstGeom prst="rect">
            <a:avLst/>
          </a:prstGeom>
          <a:solidFill>
            <a:srgbClr val="F3F4F6"/>
          </a:solidFill>
          <a:ln w="12700">
            <a:solidFill>
              <a:srgbClr val="F3F4F6"/>
            </a:solidFill>
            <a:prstDash val="solid"/>
          </a:ln>
        </p:spPr>
      </p:sp>
      <p:sp>
        <p:nvSpPr>
          <p:cNvPr id="11" name="Text 9"/>
          <p:cNvSpPr/>
          <p:nvPr/>
        </p:nvSpPr>
        <p:spPr>
          <a:xfrm>
            <a:off x="548640" y="6592824"/>
            <a:ext cx="11155680" cy="228600"/>
          </a:xfrm>
          <a:prstGeom prst="rect">
            <a:avLst/>
          </a:prstGeom>
          <a:noFill/>
          <a:ln/>
        </p:spPr>
        <p:txBody>
          <a:bodyPr wrap="square" rtlCol="0" anchor="ctr"/>
          <a:lstStyle/>
          <a:p>
            <a:pPr marL="0" indent="0" algn="r">
              <a:buNone/>
            </a:pPr>
            <a:endParaRPr lang="en-US" sz="1200" dirty="0"/>
          </a:p>
        </p:txBody>
      </p:sp>
    </p:spTree>
    <p:extLst>
      <p:ext uri="{BB962C8B-B14F-4D97-AF65-F5344CB8AC3E}">
        <p14:creationId xmlns:p14="http://schemas.microsoft.com/office/powerpoint/2010/main" val="5384741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94360"/>
          </a:xfrm>
          <a:prstGeom prst="rect">
            <a:avLst/>
          </a:prstGeom>
          <a:solidFill>
            <a:srgbClr val="2563EB"/>
          </a:solidFill>
          <a:ln w="12700">
            <a:solidFill>
              <a:srgbClr val="2563EB"/>
            </a:solidFill>
            <a:prstDash val="solid"/>
          </a:ln>
        </p:spPr>
      </p:sp>
      <p:sp>
        <p:nvSpPr>
          <p:cNvPr id="3" name="Text 1"/>
          <p:cNvSpPr/>
          <p:nvPr/>
        </p:nvSpPr>
        <p:spPr>
          <a:xfrm>
            <a:off x="548640" y="128016"/>
            <a:ext cx="11155680" cy="365760"/>
          </a:xfrm>
          <a:prstGeom prst="rect">
            <a:avLst/>
          </a:prstGeom>
          <a:noFill/>
          <a:ln/>
        </p:spPr>
        <p:txBody>
          <a:bodyPr wrap="square" rtlCol="0" anchor="ctr"/>
          <a:lstStyle/>
          <a:p>
            <a:pPr marL="0" indent="0">
              <a:buNone/>
            </a:pPr>
            <a:r>
              <a:rPr lang="en-US" sz="2000" b="1" dirty="0" smtClean="0">
                <a:solidFill>
                  <a:srgbClr val="FFFFFF"/>
                </a:solidFill>
                <a:latin typeface="Calibri" pitchFamily="34" charset="0"/>
                <a:ea typeface="Calibri" pitchFamily="34" charset="-122"/>
                <a:cs typeface="Calibri" pitchFamily="34" charset="-120"/>
              </a:rPr>
              <a:t>RESEARCH FINDINGS AND CONCLUSION</a:t>
            </a:r>
            <a:endParaRPr lang="en-US" sz="2000" dirty="0"/>
          </a:p>
        </p:txBody>
      </p:sp>
      <p:sp>
        <p:nvSpPr>
          <p:cNvPr id="4" name="Shape 2"/>
          <p:cNvSpPr/>
          <p:nvPr/>
        </p:nvSpPr>
        <p:spPr>
          <a:xfrm>
            <a:off x="393291" y="731225"/>
            <a:ext cx="11161400" cy="5586984"/>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sp>
      <p:sp>
        <p:nvSpPr>
          <p:cNvPr id="5" name="Text 3"/>
          <p:cNvSpPr/>
          <p:nvPr/>
        </p:nvSpPr>
        <p:spPr>
          <a:xfrm>
            <a:off x="923189" y="1051560"/>
            <a:ext cx="4983480" cy="320040"/>
          </a:xfrm>
          <a:prstGeom prst="rect">
            <a:avLst/>
          </a:prstGeom>
          <a:noFill/>
          <a:ln/>
        </p:spPr>
        <p:txBody>
          <a:bodyPr wrap="square" rtlCol="0" anchor="ctr"/>
          <a:lstStyle/>
          <a:p>
            <a:pPr marL="0" indent="0">
              <a:buNone/>
            </a:pPr>
            <a:endParaRPr lang="en-US" sz="1600" dirty="0"/>
          </a:p>
        </p:txBody>
      </p:sp>
      <p:sp>
        <p:nvSpPr>
          <p:cNvPr id="6" name="Text 4"/>
          <p:cNvSpPr/>
          <p:nvPr/>
        </p:nvSpPr>
        <p:spPr>
          <a:xfrm>
            <a:off x="1012467" y="784319"/>
            <a:ext cx="10481871" cy="4543839"/>
          </a:xfrm>
          <a:prstGeom prst="rect">
            <a:avLst/>
          </a:prstGeom>
          <a:noFill/>
          <a:ln/>
        </p:spPr>
        <p:txBody>
          <a:bodyPr wrap="square" rtlCol="0" anchor="t"/>
          <a:lstStyle/>
          <a:p>
            <a:r>
              <a:rPr lang="en-US" b="1" dirty="0"/>
              <a:t>Major Findings</a:t>
            </a:r>
          </a:p>
          <a:p>
            <a:r>
              <a:rPr lang="en-US" dirty="0" smtClean="0"/>
              <a:t>The </a:t>
            </a:r>
            <a:r>
              <a:rPr lang="en-US" dirty="0"/>
              <a:t>study demonstrated a clear hierarchy in learning effectiveness, where the AI-enhanced VR application produced the strongest educational impact, followed by standard VR, then AR, while the traditional paper-based booklet showed the lowest level of student performance and engagement. </a:t>
            </a:r>
          </a:p>
          <a:p>
            <a:r>
              <a:rPr lang="en-US" dirty="0"/>
              <a:t>Students who used the AI-enhanced VR learning environment achieved the highest scores in the post-study comprehension assessments, showing statistically significant improvement (p &lt; 0.05) when compared to the other learning methods used throughout the research. </a:t>
            </a:r>
          </a:p>
          <a:p>
            <a:r>
              <a:rPr lang="en-US" dirty="0"/>
              <a:t>EEG analysis revealed a strong relationship between mental engagement, attention levels, and academic performance, indicating that students who were more focused and immersed during the interactive sessions achieved noticeably better learning outcomes. </a:t>
            </a:r>
          </a:p>
          <a:p>
            <a:r>
              <a:rPr lang="en-US" dirty="0"/>
              <a:t>The integration of the AI virtual assistant provided students with personalized guidance, immediate feedback, and interactive support, which helped simplify difficult programming concepts and reduced the challenges associated with understanding abstract Python data structures. </a:t>
            </a:r>
          </a:p>
          <a:p>
            <a:endParaRPr lang="en-US" b="1" dirty="0" smtClean="0"/>
          </a:p>
          <a:p>
            <a:r>
              <a:rPr lang="en-US" b="1" dirty="0" smtClean="0"/>
              <a:t>Conclusion</a:t>
            </a:r>
            <a:endParaRPr lang="en-US" b="1" dirty="0"/>
          </a:p>
          <a:p>
            <a:r>
              <a:rPr lang="en-US" dirty="0" smtClean="0"/>
              <a:t>The </a:t>
            </a:r>
            <a:r>
              <a:rPr lang="en-US" dirty="0"/>
              <a:t>research concluded that the combined integration of Augmented Reality, Virtual Reality, and Artificial Intelligence created a highly interactive and transformative educational experience for engineering students. By converting abstract programming logic into immersive and interactive 3D visualizations, these technologies significantly improved student comprehension, increased engagement and motivation, and enhanced long-term knowledge retention when compared to traditional teaching approaches.</a:t>
            </a:r>
          </a:p>
        </p:txBody>
      </p:sp>
      <p:sp>
        <p:nvSpPr>
          <p:cNvPr id="9" name="Text 7"/>
          <p:cNvSpPr/>
          <p:nvPr/>
        </p:nvSpPr>
        <p:spPr>
          <a:xfrm>
            <a:off x="6583680" y="1600200"/>
            <a:ext cx="4645152" cy="4480560"/>
          </a:xfrm>
          <a:prstGeom prst="rect">
            <a:avLst/>
          </a:prstGeom>
          <a:noFill/>
          <a:ln/>
        </p:spPr>
        <p:txBody>
          <a:bodyPr wrap="square" rtlCol="0" anchor="t"/>
          <a:lstStyle/>
          <a:p>
            <a:pPr marL="228600" indent="-228600">
              <a:spcAft>
                <a:spcPts val="600"/>
              </a:spcAft>
              <a:buSzPct val="100000"/>
              <a:buChar char="•"/>
            </a:pPr>
            <a:endParaRPr lang="en-US" sz="1300" dirty="0"/>
          </a:p>
        </p:txBody>
      </p:sp>
      <p:sp>
        <p:nvSpPr>
          <p:cNvPr id="10" name="Shape 8"/>
          <p:cNvSpPr/>
          <p:nvPr/>
        </p:nvSpPr>
        <p:spPr>
          <a:xfrm>
            <a:off x="0" y="6537960"/>
            <a:ext cx="12188952" cy="320040"/>
          </a:xfrm>
          <a:prstGeom prst="rect">
            <a:avLst/>
          </a:prstGeom>
          <a:solidFill>
            <a:srgbClr val="F3F4F6"/>
          </a:solidFill>
          <a:ln w="12700">
            <a:solidFill>
              <a:srgbClr val="F3F4F6"/>
            </a:solidFill>
            <a:prstDash val="solid"/>
          </a:ln>
        </p:spPr>
      </p:sp>
      <p:sp>
        <p:nvSpPr>
          <p:cNvPr id="11" name="Text 9"/>
          <p:cNvSpPr/>
          <p:nvPr/>
        </p:nvSpPr>
        <p:spPr>
          <a:xfrm>
            <a:off x="548640" y="6592824"/>
            <a:ext cx="11155680" cy="228600"/>
          </a:xfrm>
          <a:prstGeom prst="rect">
            <a:avLst/>
          </a:prstGeom>
          <a:noFill/>
          <a:ln/>
        </p:spPr>
        <p:txBody>
          <a:bodyPr wrap="square" rtlCol="0" anchor="ctr"/>
          <a:lstStyle/>
          <a:p>
            <a:pPr marL="0" indent="0" algn="r">
              <a:buNone/>
            </a:pPr>
            <a:endParaRPr lang="en-US" sz="1200" dirty="0"/>
          </a:p>
        </p:txBody>
      </p:sp>
    </p:spTree>
    <p:extLst>
      <p:ext uri="{BB962C8B-B14F-4D97-AF65-F5344CB8AC3E}">
        <p14:creationId xmlns:p14="http://schemas.microsoft.com/office/powerpoint/2010/main" val="2872807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94360"/>
          </a:xfrm>
          <a:prstGeom prst="rect">
            <a:avLst/>
          </a:prstGeom>
          <a:solidFill>
            <a:srgbClr val="2563EB"/>
          </a:solidFill>
          <a:ln w="12700">
            <a:solidFill>
              <a:srgbClr val="2563EB"/>
            </a:solidFill>
            <a:prstDash val="solid"/>
          </a:ln>
        </p:spPr>
      </p:sp>
      <p:sp>
        <p:nvSpPr>
          <p:cNvPr id="3" name="Text 1"/>
          <p:cNvSpPr/>
          <p:nvPr/>
        </p:nvSpPr>
        <p:spPr>
          <a:xfrm>
            <a:off x="548640" y="128016"/>
            <a:ext cx="11155680" cy="365760"/>
          </a:xfrm>
          <a:prstGeom prst="rect">
            <a:avLst/>
          </a:prstGeom>
          <a:noFill/>
          <a:ln/>
        </p:spPr>
        <p:txBody>
          <a:bodyPr wrap="square" rtlCol="0" anchor="ctr"/>
          <a:lstStyle/>
          <a:p>
            <a:pPr marL="0" indent="0">
              <a:buNone/>
            </a:pPr>
            <a:r>
              <a:rPr lang="en-US" sz="2000" b="1" dirty="0" smtClean="0">
                <a:solidFill>
                  <a:srgbClr val="FFFFFF"/>
                </a:solidFill>
                <a:latin typeface="Calibri" pitchFamily="34" charset="0"/>
                <a:ea typeface="Calibri" pitchFamily="34" charset="-122"/>
                <a:cs typeface="Calibri" pitchFamily="34" charset="-120"/>
              </a:rPr>
              <a:t>PROBLEM STATEMENT AND PROPOSED SOLUTION</a:t>
            </a:r>
            <a:endParaRPr lang="en-US" sz="2000" dirty="0"/>
          </a:p>
        </p:txBody>
      </p:sp>
      <p:sp>
        <p:nvSpPr>
          <p:cNvPr id="4" name="Shape 2"/>
          <p:cNvSpPr/>
          <p:nvPr/>
        </p:nvSpPr>
        <p:spPr>
          <a:xfrm>
            <a:off x="731519" y="1005840"/>
            <a:ext cx="10823171" cy="5257800"/>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sp>
      <p:sp>
        <p:nvSpPr>
          <p:cNvPr id="5" name="Text 3"/>
          <p:cNvSpPr/>
          <p:nvPr/>
        </p:nvSpPr>
        <p:spPr>
          <a:xfrm>
            <a:off x="960120" y="1188720"/>
            <a:ext cx="4983480" cy="320040"/>
          </a:xfrm>
          <a:prstGeom prst="rect">
            <a:avLst/>
          </a:prstGeom>
          <a:noFill/>
          <a:ln/>
        </p:spPr>
        <p:txBody>
          <a:bodyPr wrap="square" rtlCol="0" anchor="ctr"/>
          <a:lstStyle/>
          <a:p>
            <a:pPr marL="0" indent="0">
              <a:buNone/>
            </a:pPr>
            <a:endParaRPr lang="en-US" sz="1600" dirty="0"/>
          </a:p>
        </p:txBody>
      </p:sp>
      <p:sp>
        <p:nvSpPr>
          <p:cNvPr id="6" name="Text 4"/>
          <p:cNvSpPr/>
          <p:nvPr/>
        </p:nvSpPr>
        <p:spPr>
          <a:xfrm>
            <a:off x="1072818" y="1536920"/>
            <a:ext cx="10481871" cy="4543839"/>
          </a:xfrm>
          <a:prstGeom prst="rect">
            <a:avLst/>
          </a:prstGeom>
          <a:noFill/>
          <a:ln/>
        </p:spPr>
        <p:txBody>
          <a:bodyPr wrap="square" rtlCol="0" anchor="t"/>
          <a:lstStyle/>
          <a:p>
            <a:r>
              <a:rPr lang="en-US" sz="1400" b="1" dirty="0"/>
              <a:t>PROBLEM STATEMENT</a:t>
            </a:r>
          </a:p>
          <a:p>
            <a:endParaRPr lang="en-US" sz="1400" dirty="0"/>
          </a:p>
          <a:p>
            <a:r>
              <a:rPr lang="en-US" sz="1400" dirty="0"/>
              <a:t>In many situations, users see objects around them but do not have enough information about them.</a:t>
            </a:r>
          </a:p>
          <a:p>
            <a:endParaRPr lang="en-US" sz="1400" dirty="0"/>
          </a:p>
          <a:p>
            <a:r>
              <a:rPr lang="en-US" sz="1400" dirty="0"/>
              <a:t>For example, a user may see:</a:t>
            </a:r>
          </a:p>
          <a:p>
            <a:endParaRPr lang="en-US" sz="1400" dirty="0"/>
          </a:p>
          <a:p>
            <a:r>
              <a:rPr lang="en-US" sz="1400" dirty="0"/>
              <a:t>A car and want to know its type or estimated price</a:t>
            </a:r>
          </a:p>
          <a:p>
            <a:r>
              <a:rPr lang="en-US" sz="1400" dirty="0"/>
              <a:t>A product and want quick details about it</a:t>
            </a:r>
          </a:p>
          <a:p>
            <a:r>
              <a:rPr lang="en-US" sz="1400" dirty="0"/>
              <a:t>An object and want to identify what it is</a:t>
            </a:r>
          </a:p>
          <a:p>
            <a:endParaRPr lang="en-US" sz="1400" dirty="0"/>
          </a:p>
          <a:p>
            <a:r>
              <a:rPr lang="en-US" sz="1400" dirty="0"/>
              <a:t>Normally, users must search manually for information using another application or website.</a:t>
            </a:r>
          </a:p>
          <a:p>
            <a:endParaRPr lang="en-US" sz="1400" dirty="0"/>
          </a:p>
          <a:p>
            <a:r>
              <a:rPr lang="en-US" sz="1400" dirty="0"/>
              <a:t>This makes the process slower and less interactive.</a:t>
            </a:r>
          </a:p>
          <a:p>
            <a:endParaRPr lang="en-US" sz="1400" dirty="0"/>
          </a:p>
          <a:p>
            <a:r>
              <a:rPr lang="en-US" sz="1400" b="1" dirty="0"/>
              <a:t>PROPOSED SOLUTION</a:t>
            </a:r>
          </a:p>
          <a:p>
            <a:endParaRPr lang="en-US" sz="1400" dirty="0"/>
          </a:p>
          <a:p>
            <a:r>
              <a:rPr lang="en-US" sz="1400" dirty="0"/>
              <a:t>Our project uses Augmented Reality technology to display information directly above real-world objects.</a:t>
            </a:r>
          </a:p>
          <a:p>
            <a:endParaRPr lang="en-US" sz="1400" dirty="0"/>
          </a:p>
          <a:p>
            <a:r>
              <a:rPr lang="en-US" sz="1400" dirty="0"/>
              <a:t>The application uses the mobile camera and AR technology to place digital labels inside the real environment.</a:t>
            </a:r>
          </a:p>
          <a:p>
            <a:r>
              <a:rPr lang="en-US" sz="1400" dirty="0" smtClean="0"/>
              <a:t>.</a:t>
            </a:r>
            <a:endParaRPr lang="en-US" sz="1400" dirty="0"/>
          </a:p>
        </p:txBody>
      </p:sp>
      <p:sp>
        <p:nvSpPr>
          <p:cNvPr id="9" name="Text 7"/>
          <p:cNvSpPr/>
          <p:nvPr/>
        </p:nvSpPr>
        <p:spPr>
          <a:xfrm>
            <a:off x="6583680" y="1600200"/>
            <a:ext cx="4645152" cy="4480560"/>
          </a:xfrm>
          <a:prstGeom prst="rect">
            <a:avLst/>
          </a:prstGeom>
          <a:noFill/>
          <a:ln/>
        </p:spPr>
        <p:txBody>
          <a:bodyPr wrap="square" rtlCol="0" anchor="t"/>
          <a:lstStyle/>
          <a:p>
            <a:pPr marL="228600" indent="-228600">
              <a:spcAft>
                <a:spcPts val="600"/>
              </a:spcAft>
              <a:buSzPct val="100000"/>
              <a:buChar char="•"/>
            </a:pPr>
            <a:endParaRPr lang="en-US" sz="1300" dirty="0"/>
          </a:p>
        </p:txBody>
      </p:sp>
      <p:sp>
        <p:nvSpPr>
          <p:cNvPr id="10" name="Shape 8"/>
          <p:cNvSpPr/>
          <p:nvPr/>
        </p:nvSpPr>
        <p:spPr>
          <a:xfrm>
            <a:off x="0" y="6537960"/>
            <a:ext cx="12188952" cy="320040"/>
          </a:xfrm>
          <a:prstGeom prst="rect">
            <a:avLst/>
          </a:prstGeom>
          <a:solidFill>
            <a:srgbClr val="F3F4F6"/>
          </a:solidFill>
          <a:ln w="12700">
            <a:solidFill>
              <a:srgbClr val="F3F4F6"/>
            </a:solidFill>
            <a:prstDash val="solid"/>
          </a:ln>
        </p:spPr>
      </p:sp>
      <p:sp>
        <p:nvSpPr>
          <p:cNvPr id="11" name="Text 9"/>
          <p:cNvSpPr/>
          <p:nvPr/>
        </p:nvSpPr>
        <p:spPr>
          <a:xfrm>
            <a:off x="548640" y="6592824"/>
            <a:ext cx="11155680" cy="228600"/>
          </a:xfrm>
          <a:prstGeom prst="rect">
            <a:avLst/>
          </a:prstGeom>
          <a:noFill/>
          <a:ln/>
        </p:spPr>
        <p:txBody>
          <a:bodyPr wrap="square" rtlCol="0" anchor="ctr"/>
          <a:lstStyle/>
          <a:p>
            <a:pPr marL="0" indent="0" algn="r">
              <a:buNone/>
            </a:pPr>
            <a:endParaRPr lang="en-US" sz="1200" dirty="0"/>
          </a:p>
        </p:txBody>
      </p:sp>
      <p:pic>
        <p:nvPicPr>
          <p:cNvPr id="3074" name="Picture 2" descr="Object and Depth Detection with AR Drone 2.0 | Devpo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7078" y="2381581"/>
            <a:ext cx="2860757" cy="2033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1614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94360"/>
          </a:xfrm>
          <a:prstGeom prst="rect">
            <a:avLst/>
          </a:prstGeom>
          <a:solidFill>
            <a:srgbClr val="2563EB"/>
          </a:solidFill>
          <a:ln w="12700">
            <a:solidFill>
              <a:srgbClr val="2563EB"/>
            </a:solidFill>
            <a:prstDash val="solid"/>
          </a:ln>
        </p:spPr>
      </p:sp>
      <p:sp>
        <p:nvSpPr>
          <p:cNvPr id="3" name="Text 1"/>
          <p:cNvSpPr/>
          <p:nvPr/>
        </p:nvSpPr>
        <p:spPr>
          <a:xfrm>
            <a:off x="548640" y="128016"/>
            <a:ext cx="11155680" cy="365760"/>
          </a:xfrm>
          <a:prstGeom prst="rect">
            <a:avLst/>
          </a:prstGeom>
          <a:noFill/>
          <a:ln/>
        </p:spPr>
        <p:txBody>
          <a:bodyPr wrap="square" rtlCol="0" anchor="ctr"/>
          <a:lstStyle/>
          <a:p>
            <a:pPr marL="0" indent="0">
              <a:buNone/>
            </a:pPr>
            <a:r>
              <a:rPr lang="en-US" sz="2000" b="1" dirty="0" smtClean="0">
                <a:solidFill>
                  <a:srgbClr val="FFFFFF"/>
                </a:solidFill>
                <a:latin typeface="Calibri" pitchFamily="34" charset="0"/>
                <a:ea typeface="Calibri" pitchFamily="34" charset="-122"/>
                <a:cs typeface="Calibri" pitchFamily="34" charset="-120"/>
              </a:rPr>
              <a:t>SYSTEM WORKFLOW</a:t>
            </a:r>
            <a:endParaRPr lang="en-US" sz="2000" dirty="0"/>
          </a:p>
        </p:txBody>
      </p:sp>
      <p:sp>
        <p:nvSpPr>
          <p:cNvPr id="4" name="Shape 2"/>
          <p:cNvSpPr/>
          <p:nvPr/>
        </p:nvSpPr>
        <p:spPr>
          <a:xfrm>
            <a:off x="682890" y="1005840"/>
            <a:ext cx="10823171" cy="5257800"/>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sp>
      <p:sp>
        <p:nvSpPr>
          <p:cNvPr id="5" name="Text 3"/>
          <p:cNvSpPr/>
          <p:nvPr/>
        </p:nvSpPr>
        <p:spPr>
          <a:xfrm>
            <a:off x="960120" y="1188720"/>
            <a:ext cx="4983480" cy="320040"/>
          </a:xfrm>
          <a:prstGeom prst="rect">
            <a:avLst/>
          </a:prstGeom>
          <a:noFill/>
          <a:ln/>
        </p:spPr>
        <p:txBody>
          <a:bodyPr wrap="square" rtlCol="0" anchor="ctr"/>
          <a:lstStyle/>
          <a:p>
            <a:pPr marL="0" indent="0">
              <a:buNone/>
            </a:pPr>
            <a:endParaRPr lang="en-US" sz="1600" dirty="0"/>
          </a:p>
        </p:txBody>
      </p:sp>
      <p:sp>
        <p:nvSpPr>
          <p:cNvPr id="6" name="Text 4"/>
          <p:cNvSpPr/>
          <p:nvPr/>
        </p:nvSpPr>
        <p:spPr>
          <a:xfrm>
            <a:off x="1072818" y="1536920"/>
            <a:ext cx="10481871" cy="4543839"/>
          </a:xfrm>
          <a:prstGeom prst="rect">
            <a:avLst/>
          </a:prstGeom>
          <a:noFill/>
          <a:ln/>
        </p:spPr>
        <p:txBody>
          <a:bodyPr wrap="square" rtlCol="0" anchor="t"/>
          <a:lstStyle/>
          <a:p>
            <a:r>
              <a:rPr lang="en-US" sz="1600" dirty="0"/>
              <a:t>The current prototype works using Augmented Reality technology</a:t>
            </a:r>
            <a:r>
              <a:rPr lang="en-US" sz="1600" dirty="0" smtClean="0"/>
              <a:t>.</a:t>
            </a:r>
          </a:p>
          <a:p>
            <a:endParaRPr lang="en-US" sz="1600" dirty="0"/>
          </a:p>
          <a:p>
            <a:r>
              <a:rPr lang="en-US" sz="1600" dirty="0"/>
              <a:t>Workflow steps:</a:t>
            </a:r>
          </a:p>
          <a:p>
            <a:pPr marL="342900" indent="-342900">
              <a:buFont typeface="+mj-lt"/>
              <a:buAutoNum type="arabicPeriod"/>
            </a:pPr>
            <a:r>
              <a:rPr lang="en-US" sz="1600" dirty="0"/>
              <a:t>User opens the </a:t>
            </a:r>
            <a:r>
              <a:rPr lang="en-US" sz="1600" dirty="0" smtClean="0"/>
              <a:t>application</a:t>
            </a:r>
            <a:endParaRPr lang="en-US" sz="1600" dirty="0"/>
          </a:p>
          <a:p>
            <a:pPr marL="342900" indent="-342900">
              <a:buFont typeface="+mj-lt"/>
              <a:buAutoNum type="arabicPeriod"/>
            </a:pPr>
            <a:r>
              <a:rPr lang="en-US" sz="1600" dirty="0"/>
              <a:t>Camera starts using AR view </a:t>
            </a:r>
          </a:p>
          <a:p>
            <a:pPr marL="342900" indent="-342900">
              <a:buFont typeface="+mj-lt"/>
              <a:buAutoNum type="arabicPeriod"/>
            </a:pPr>
            <a:r>
              <a:rPr lang="en-US" sz="1600" dirty="0"/>
              <a:t>The environment is scanned </a:t>
            </a:r>
          </a:p>
          <a:p>
            <a:pPr marL="342900" indent="-342900">
              <a:buFont typeface="+mj-lt"/>
              <a:buAutoNum type="arabicPeriod"/>
            </a:pPr>
            <a:r>
              <a:rPr lang="en-US" sz="1600" dirty="0"/>
              <a:t>User taps on a detected surface or object position </a:t>
            </a:r>
          </a:p>
          <a:p>
            <a:pPr marL="342900" indent="-342900">
              <a:buFont typeface="+mj-lt"/>
              <a:buAutoNum type="arabicPeriod"/>
            </a:pPr>
            <a:r>
              <a:rPr lang="en-US" sz="1600" dirty="0"/>
              <a:t>The system creates an AR anchor </a:t>
            </a:r>
          </a:p>
          <a:p>
            <a:pPr marL="342900" indent="-342900">
              <a:buFont typeface="+mj-lt"/>
              <a:buAutoNum type="arabicPeriod"/>
            </a:pPr>
            <a:r>
              <a:rPr lang="en-US" sz="1600" dirty="0"/>
              <a:t>A digital label appears above the selected position </a:t>
            </a:r>
          </a:p>
          <a:p>
            <a:pPr marL="342900" indent="-342900">
              <a:buFont typeface="+mj-lt"/>
              <a:buAutoNum type="arabicPeriod"/>
            </a:pPr>
            <a:r>
              <a:rPr lang="en-US" sz="1600" dirty="0"/>
              <a:t>The label stays fixed in the AR scene </a:t>
            </a:r>
            <a:endParaRPr lang="en-US" sz="1600" dirty="0" smtClean="0"/>
          </a:p>
          <a:p>
            <a:pPr marL="285750" indent="-285750">
              <a:buFont typeface="Arial" panose="020B0604020202020204" pitchFamily="34" charset="0"/>
              <a:buChar char="•"/>
            </a:pPr>
            <a:endParaRPr lang="en-US" sz="1600" dirty="0"/>
          </a:p>
          <a:p>
            <a:r>
              <a:rPr lang="en-US" sz="1600" dirty="0"/>
              <a:t>Current displayed text:</a:t>
            </a:r>
            <a:br>
              <a:rPr lang="en-US" sz="1600" dirty="0"/>
            </a:br>
            <a:r>
              <a:rPr lang="en-US" sz="1600" dirty="0"/>
              <a:t>“This Chair”</a:t>
            </a:r>
          </a:p>
          <a:p>
            <a:r>
              <a:rPr lang="en-US" sz="1600" dirty="0"/>
              <a:t>This proves that digital information can be placed inside the real world using AR.</a:t>
            </a:r>
          </a:p>
        </p:txBody>
      </p:sp>
      <p:sp>
        <p:nvSpPr>
          <p:cNvPr id="9" name="Text 7"/>
          <p:cNvSpPr/>
          <p:nvPr/>
        </p:nvSpPr>
        <p:spPr>
          <a:xfrm>
            <a:off x="6583680" y="1600200"/>
            <a:ext cx="4645152" cy="4480560"/>
          </a:xfrm>
          <a:prstGeom prst="rect">
            <a:avLst/>
          </a:prstGeom>
          <a:noFill/>
          <a:ln/>
        </p:spPr>
        <p:txBody>
          <a:bodyPr wrap="square" rtlCol="0" anchor="t"/>
          <a:lstStyle/>
          <a:p>
            <a:pPr marL="228600" indent="-228600">
              <a:spcAft>
                <a:spcPts val="600"/>
              </a:spcAft>
              <a:buSzPct val="100000"/>
              <a:buChar char="•"/>
            </a:pPr>
            <a:endParaRPr lang="en-US" sz="1300" dirty="0"/>
          </a:p>
        </p:txBody>
      </p:sp>
      <p:sp>
        <p:nvSpPr>
          <p:cNvPr id="10" name="Shape 8"/>
          <p:cNvSpPr/>
          <p:nvPr/>
        </p:nvSpPr>
        <p:spPr>
          <a:xfrm>
            <a:off x="0" y="6537960"/>
            <a:ext cx="12188952" cy="320040"/>
          </a:xfrm>
          <a:prstGeom prst="rect">
            <a:avLst/>
          </a:prstGeom>
          <a:solidFill>
            <a:srgbClr val="F3F4F6"/>
          </a:solidFill>
          <a:ln w="12700">
            <a:solidFill>
              <a:srgbClr val="F3F4F6"/>
            </a:solidFill>
            <a:prstDash val="solid"/>
          </a:ln>
        </p:spPr>
      </p:sp>
      <p:sp>
        <p:nvSpPr>
          <p:cNvPr id="11" name="Text 9"/>
          <p:cNvSpPr/>
          <p:nvPr/>
        </p:nvSpPr>
        <p:spPr>
          <a:xfrm>
            <a:off x="548640" y="6592824"/>
            <a:ext cx="11155680" cy="228600"/>
          </a:xfrm>
          <a:prstGeom prst="rect">
            <a:avLst/>
          </a:prstGeom>
          <a:noFill/>
          <a:ln/>
        </p:spPr>
        <p:txBody>
          <a:bodyPr wrap="square" rtlCol="0" anchor="ctr"/>
          <a:lstStyle/>
          <a:p>
            <a:pPr marL="0" indent="0" algn="r">
              <a:buNone/>
            </a:pPr>
            <a:endParaRPr lang="en-US" sz="1200" dirty="0"/>
          </a:p>
        </p:txBody>
      </p:sp>
    </p:spTree>
    <p:extLst>
      <p:ext uri="{BB962C8B-B14F-4D97-AF65-F5344CB8AC3E}">
        <p14:creationId xmlns:p14="http://schemas.microsoft.com/office/powerpoint/2010/main" val="41874533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94360"/>
          </a:xfrm>
          <a:prstGeom prst="rect">
            <a:avLst/>
          </a:prstGeom>
          <a:solidFill>
            <a:srgbClr val="2563EB"/>
          </a:solidFill>
          <a:ln w="12700">
            <a:solidFill>
              <a:srgbClr val="2563EB"/>
            </a:solidFill>
            <a:prstDash val="solid"/>
          </a:ln>
        </p:spPr>
      </p:sp>
      <p:sp>
        <p:nvSpPr>
          <p:cNvPr id="3" name="Text 1"/>
          <p:cNvSpPr/>
          <p:nvPr/>
        </p:nvSpPr>
        <p:spPr>
          <a:xfrm>
            <a:off x="548640" y="128016"/>
            <a:ext cx="11155680" cy="365760"/>
          </a:xfrm>
          <a:prstGeom prst="rect">
            <a:avLst/>
          </a:prstGeom>
          <a:noFill/>
          <a:ln/>
        </p:spPr>
        <p:txBody>
          <a:bodyPr wrap="square" rtlCol="0" anchor="ctr"/>
          <a:lstStyle/>
          <a:p>
            <a:pPr marL="0" indent="0">
              <a:buNone/>
            </a:pPr>
            <a:r>
              <a:rPr lang="en-US" sz="2000" b="1" dirty="0" smtClean="0">
                <a:solidFill>
                  <a:srgbClr val="FFFFFF"/>
                </a:solidFill>
                <a:latin typeface="Calibri" pitchFamily="34" charset="0"/>
                <a:cs typeface="Calibri" pitchFamily="34" charset="-120"/>
              </a:rPr>
              <a:t>BENEFITS AND USE CASES</a:t>
            </a:r>
            <a:endParaRPr lang="en-US" sz="2000" dirty="0"/>
          </a:p>
        </p:txBody>
      </p:sp>
      <p:sp>
        <p:nvSpPr>
          <p:cNvPr id="4" name="Shape 2"/>
          <p:cNvSpPr/>
          <p:nvPr/>
        </p:nvSpPr>
        <p:spPr>
          <a:xfrm>
            <a:off x="332510" y="944094"/>
            <a:ext cx="11173552" cy="5493281"/>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sp>
      <p:sp>
        <p:nvSpPr>
          <p:cNvPr id="5" name="Text 3"/>
          <p:cNvSpPr/>
          <p:nvPr/>
        </p:nvSpPr>
        <p:spPr>
          <a:xfrm>
            <a:off x="960120" y="1188720"/>
            <a:ext cx="4983480" cy="320040"/>
          </a:xfrm>
          <a:prstGeom prst="rect">
            <a:avLst/>
          </a:prstGeom>
          <a:noFill/>
          <a:ln/>
        </p:spPr>
        <p:txBody>
          <a:bodyPr wrap="square" rtlCol="0" anchor="ctr"/>
          <a:lstStyle/>
          <a:p>
            <a:pPr marL="0" indent="0">
              <a:buNone/>
            </a:pPr>
            <a:endParaRPr lang="en-US" sz="1600" dirty="0"/>
          </a:p>
        </p:txBody>
      </p:sp>
      <p:sp>
        <p:nvSpPr>
          <p:cNvPr id="6" name="Text 4"/>
          <p:cNvSpPr/>
          <p:nvPr/>
        </p:nvSpPr>
        <p:spPr>
          <a:xfrm>
            <a:off x="960120" y="1200635"/>
            <a:ext cx="12640887" cy="4900456"/>
          </a:xfrm>
          <a:prstGeom prst="rect">
            <a:avLst/>
          </a:prstGeom>
          <a:noFill/>
          <a:ln/>
        </p:spPr>
        <p:txBody>
          <a:bodyPr wrap="square" rtlCol="0" anchor="t"/>
          <a:lstStyle/>
          <a:p>
            <a:r>
              <a:rPr lang="en-US" sz="1600" b="1" dirty="0"/>
              <a:t>BENEFITS OF THE </a:t>
            </a:r>
            <a:r>
              <a:rPr lang="en-US" sz="1600" b="1" dirty="0" smtClean="0"/>
              <a:t>PROJECT</a:t>
            </a:r>
            <a:endParaRPr lang="en-US" sz="1600" b="1" dirty="0"/>
          </a:p>
          <a:p>
            <a:r>
              <a:rPr lang="en-US" sz="1600" dirty="0"/>
              <a:t>The application provides an interactive and modern user experience</a:t>
            </a:r>
            <a:r>
              <a:rPr lang="en-US" sz="1600" dirty="0" smtClean="0"/>
              <a:t>.</a:t>
            </a:r>
            <a:endParaRPr lang="en-US" sz="1600" dirty="0"/>
          </a:p>
          <a:p>
            <a:r>
              <a:rPr lang="en-US" sz="1600" b="1" dirty="0"/>
              <a:t>Main benefits</a:t>
            </a:r>
            <a:r>
              <a:rPr lang="en-US" sz="1600" b="1" dirty="0" smtClean="0"/>
              <a:t>:</a:t>
            </a:r>
            <a:endParaRPr lang="en-US" sz="1600" b="1" dirty="0"/>
          </a:p>
          <a:p>
            <a:pPr marL="285750" indent="-285750">
              <a:buFont typeface="Arial" panose="020B0604020202020204" pitchFamily="34" charset="0"/>
              <a:buChar char="•"/>
            </a:pPr>
            <a:r>
              <a:rPr lang="en-US" sz="1600" dirty="0"/>
              <a:t>Information appears directly above the object</a:t>
            </a:r>
          </a:p>
          <a:p>
            <a:pPr marL="285750" indent="-285750">
              <a:buFont typeface="Arial" panose="020B0604020202020204" pitchFamily="34" charset="0"/>
              <a:buChar char="•"/>
            </a:pPr>
            <a:r>
              <a:rPr lang="en-US" sz="1600" dirty="0"/>
              <a:t>Faster access to object information</a:t>
            </a:r>
          </a:p>
          <a:p>
            <a:pPr marL="285750" indent="-285750">
              <a:buFont typeface="Arial" panose="020B0604020202020204" pitchFamily="34" charset="0"/>
              <a:buChar char="•"/>
            </a:pPr>
            <a:r>
              <a:rPr lang="en-US" sz="1600" dirty="0"/>
              <a:t>Easy visual understanding</a:t>
            </a:r>
          </a:p>
          <a:p>
            <a:pPr marL="285750" indent="-285750">
              <a:buFont typeface="Arial" panose="020B0604020202020204" pitchFamily="34" charset="0"/>
              <a:buChar char="•"/>
            </a:pPr>
            <a:r>
              <a:rPr lang="en-US" sz="1600" dirty="0"/>
              <a:t>Interactive camera-based experience</a:t>
            </a:r>
          </a:p>
          <a:p>
            <a:pPr marL="285750" indent="-285750">
              <a:buFont typeface="Arial" panose="020B0604020202020204" pitchFamily="34" charset="0"/>
              <a:buChar char="•"/>
            </a:pPr>
            <a:r>
              <a:rPr lang="en-US" sz="1600" dirty="0"/>
              <a:t>Can be expanded using AI technologies</a:t>
            </a:r>
          </a:p>
          <a:p>
            <a:pPr marL="285750" indent="-285750">
              <a:buFont typeface="Arial" panose="020B0604020202020204" pitchFamily="34" charset="0"/>
              <a:buChar char="•"/>
            </a:pPr>
            <a:r>
              <a:rPr lang="en-US" sz="1600" dirty="0"/>
              <a:t>Can connect with external databases and APIs</a:t>
            </a:r>
          </a:p>
          <a:p>
            <a:pPr marL="285750" indent="-285750">
              <a:buFont typeface="Arial" panose="020B0604020202020204" pitchFamily="34" charset="0"/>
              <a:buChar char="•"/>
            </a:pPr>
            <a:r>
              <a:rPr lang="en-US" sz="1600" dirty="0"/>
              <a:t>Useful in many real-world applications</a:t>
            </a:r>
          </a:p>
          <a:p>
            <a:r>
              <a:rPr lang="en-US" sz="1600" b="1" dirty="0"/>
              <a:t>POSSIBLE USE </a:t>
            </a:r>
            <a:r>
              <a:rPr lang="en-US" sz="1600" b="1" dirty="0" smtClean="0"/>
              <a:t>CASES:</a:t>
            </a:r>
            <a:endParaRPr lang="en-US" sz="1600" b="1" dirty="0"/>
          </a:p>
          <a:p>
            <a:r>
              <a:rPr lang="en-US" sz="1600" dirty="0"/>
              <a:t>The project idea can be used in many fields such as</a:t>
            </a:r>
            <a:r>
              <a:rPr lang="en-US" sz="1600" dirty="0" smtClean="0"/>
              <a:t>:</a:t>
            </a:r>
            <a:endParaRPr lang="en-US" sz="1600" dirty="0"/>
          </a:p>
          <a:p>
            <a:r>
              <a:rPr lang="en-US" sz="1600" b="1" dirty="0" smtClean="0"/>
              <a:t>Cars</a:t>
            </a:r>
            <a:endParaRPr lang="en-US" sz="1600" b="1" dirty="0"/>
          </a:p>
          <a:p>
            <a:pPr marL="285750" indent="-285750">
              <a:buFont typeface="Arial" panose="020B0604020202020204" pitchFamily="34" charset="0"/>
              <a:buChar char="•"/>
            </a:pPr>
            <a:r>
              <a:rPr lang="en-US" sz="1600" dirty="0"/>
              <a:t>Display type, condition, and estimated price</a:t>
            </a:r>
            <a:r>
              <a:rPr lang="en-US" sz="1600" dirty="0" smtClean="0"/>
              <a:t>.</a:t>
            </a:r>
            <a:endParaRPr lang="en-US" sz="1600" dirty="0"/>
          </a:p>
          <a:p>
            <a:r>
              <a:rPr lang="en-US" sz="1600" b="1" dirty="0" smtClean="0"/>
              <a:t>Shopping</a:t>
            </a:r>
            <a:endParaRPr lang="en-US" sz="1600" b="1" dirty="0"/>
          </a:p>
          <a:p>
            <a:pPr marL="285750" indent="-285750">
              <a:buFont typeface="Arial" panose="020B0604020202020204" pitchFamily="34" charset="0"/>
              <a:buChar char="•"/>
            </a:pPr>
            <a:r>
              <a:rPr lang="en-US" sz="1600" dirty="0"/>
              <a:t>Show product names and details instantly</a:t>
            </a:r>
            <a:r>
              <a:rPr lang="en-US" sz="1600" dirty="0" smtClean="0"/>
              <a:t>.</a:t>
            </a:r>
            <a:endParaRPr lang="en-US" sz="1600" dirty="0"/>
          </a:p>
          <a:p>
            <a:r>
              <a:rPr lang="en-US" sz="1600" b="1" dirty="0" smtClean="0"/>
              <a:t>Education</a:t>
            </a:r>
            <a:endParaRPr lang="en-US" sz="1600" b="1" dirty="0"/>
          </a:p>
          <a:p>
            <a:pPr marL="285750" indent="-285750">
              <a:buFont typeface="Arial" panose="020B0604020202020204" pitchFamily="34" charset="0"/>
              <a:buChar char="•"/>
            </a:pPr>
            <a:r>
              <a:rPr lang="en-US" sz="1600" dirty="0"/>
              <a:t>Help students identify objects and learn visually</a:t>
            </a:r>
            <a:r>
              <a:rPr lang="en-US" sz="1600" dirty="0" smtClean="0"/>
              <a:t>.</a:t>
            </a:r>
            <a:endParaRPr lang="en-US" sz="1600" dirty="0"/>
          </a:p>
          <a:p>
            <a:r>
              <a:rPr lang="en-US" sz="1600" b="1" dirty="0" smtClean="0"/>
              <a:t>Museums</a:t>
            </a:r>
            <a:endParaRPr lang="en-US" sz="1600" b="1" dirty="0"/>
          </a:p>
          <a:p>
            <a:pPr marL="285750" indent="-285750">
              <a:buFont typeface="Arial" panose="020B0604020202020204" pitchFamily="34" charset="0"/>
              <a:buChar char="•"/>
            </a:pPr>
            <a:r>
              <a:rPr lang="en-US" sz="1600" dirty="0"/>
              <a:t>Display information about exhibits and historical objects</a:t>
            </a:r>
            <a:r>
              <a:rPr lang="en-US" sz="1600" dirty="0" smtClean="0"/>
              <a:t>.</a:t>
            </a:r>
            <a:endParaRPr lang="en-US" sz="1600" dirty="0"/>
          </a:p>
        </p:txBody>
      </p:sp>
      <p:sp>
        <p:nvSpPr>
          <p:cNvPr id="9" name="Text 7"/>
          <p:cNvSpPr/>
          <p:nvPr/>
        </p:nvSpPr>
        <p:spPr>
          <a:xfrm>
            <a:off x="6583680" y="1600200"/>
            <a:ext cx="4645152" cy="4480560"/>
          </a:xfrm>
          <a:prstGeom prst="rect">
            <a:avLst/>
          </a:prstGeom>
          <a:noFill/>
          <a:ln/>
        </p:spPr>
        <p:txBody>
          <a:bodyPr wrap="square" rtlCol="0" anchor="t"/>
          <a:lstStyle/>
          <a:p>
            <a:pPr marL="228600" indent="-228600">
              <a:spcAft>
                <a:spcPts val="600"/>
              </a:spcAft>
              <a:buSzPct val="100000"/>
              <a:buChar char="•"/>
            </a:pPr>
            <a:endParaRPr lang="en-US" sz="1300" dirty="0"/>
          </a:p>
        </p:txBody>
      </p:sp>
      <p:sp>
        <p:nvSpPr>
          <p:cNvPr id="10" name="Shape 8"/>
          <p:cNvSpPr/>
          <p:nvPr/>
        </p:nvSpPr>
        <p:spPr>
          <a:xfrm>
            <a:off x="0" y="6537960"/>
            <a:ext cx="12188952" cy="320040"/>
          </a:xfrm>
          <a:prstGeom prst="rect">
            <a:avLst/>
          </a:prstGeom>
          <a:solidFill>
            <a:srgbClr val="F3F4F6"/>
          </a:solidFill>
          <a:ln w="12700">
            <a:solidFill>
              <a:srgbClr val="F3F4F6"/>
            </a:solidFill>
            <a:prstDash val="solid"/>
          </a:ln>
        </p:spPr>
      </p:sp>
      <p:sp>
        <p:nvSpPr>
          <p:cNvPr id="11" name="Text 9"/>
          <p:cNvSpPr/>
          <p:nvPr/>
        </p:nvSpPr>
        <p:spPr>
          <a:xfrm>
            <a:off x="548640" y="6592824"/>
            <a:ext cx="11155680" cy="228600"/>
          </a:xfrm>
          <a:prstGeom prst="rect">
            <a:avLst/>
          </a:prstGeom>
          <a:noFill/>
          <a:ln/>
        </p:spPr>
        <p:txBody>
          <a:bodyPr wrap="square" rtlCol="0" anchor="ctr"/>
          <a:lstStyle/>
          <a:p>
            <a:pPr marL="0" indent="0" algn="r">
              <a:buNone/>
            </a:pPr>
            <a:endParaRPr lang="en-US" sz="1200" dirty="0"/>
          </a:p>
        </p:txBody>
      </p:sp>
    </p:spTree>
    <p:extLst>
      <p:ext uri="{BB962C8B-B14F-4D97-AF65-F5344CB8AC3E}">
        <p14:creationId xmlns:p14="http://schemas.microsoft.com/office/powerpoint/2010/main" val="1377513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594360"/>
          </a:xfrm>
          <a:prstGeom prst="rect">
            <a:avLst/>
          </a:prstGeom>
          <a:solidFill>
            <a:srgbClr val="2563EB"/>
          </a:solidFill>
          <a:ln w="12700">
            <a:solidFill>
              <a:srgbClr val="2563EB"/>
            </a:solidFill>
            <a:prstDash val="solid"/>
          </a:ln>
        </p:spPr>
      </p:sp>
      <p:sp>
        <p:nvSpPr>
          <p:cNvPr id="3" name="Text 1"/>
          <p:cNvSpPr/>
          <p:nvPr/>
        </p:nvSpPr>
        <p:spPr>
          <a:xfrm>
            <a:off x="548640" y="128016"/>
            <a:ext cx="11155680" cy="365760"/>
          </a:xfrm>
          <a:prstGeom prst="rect">
            <a:avLst/>
          </a:prstGeom>
          <a:noFill/>
          <a:ln/>
        </p:spPr>
        <p:txBody>
          <a:bodyPr wrap="square" rtlCol="0" anchor="ctr"/>
          <a:lstStyle/>
          <a:p>
            <a:pPr marL="0" indent="0">
              <a:buNone/>
            </a:pPr>
            <a:r>
              <a:rPr lang="en-US" sz="2000" b="1" dirty="0" smtClean="0">
                <a:solidFill>
                  <a:srgbClr val="FFFFFF"/>
                </a:solidFill>
                <a:latin typeface="Calibri" pitchFamily="34" charset="0"/>
                <a:cs typeface="Calibri" pitchFamily="34" charset="-120"/>
              </a:rPr>
              <a:t>CONCLUSION</a:t>
            </a:r>
            <a:endParaRPr lang="en-US" sz="2000" dirty="0"/>
          </a:p>
        </p:txBody>
      </p:sp>
      <p:sp>
        <p:nvSpPr>
          <p:cNvPr id="4" name="Shape 2"/>
          <p:cNvSpPr/>
          <p:nvPr/>
        </p:nvSpPr>
        <p:spPr>
          <a:xfrm>
            <a:off x="332510" y="944095"/>
            <a:ext cx="4488872" cy="5156996"/>
          </a:xfrm>
          <a:prstGeom prst="roundRect">
            <a:avLst/>
          </a:prstGeom>
          <a:solidFill>
            <a:srgbClr val="FFFFFF"/>
          </a:solidFill>
          <a:ln w="12700">
            <a:solidFill>
              <a:srgbClr val="D1D5DB"/>
            </a:solidFill>
            <a:prstDash val="solid"/>
          </a:ln>
          <a:effectLst>
            <a:outerShdw blurRad="38100" dist="12700" dir="2700000" algn="bl" rotWithShape="0">
              <a:srgbClr val="000000">
                <a:alpha val="12000"/>
              </a:srgbClr>
            </a:outerShdw>
          </a:effectLst>
        </p:spPr>
      </p:sp>
      <p:sp>
        <p:nvSpPr>
          <p:cNvPr id="5" name="Text 3"/>
          <p:cNvSpPr/>
          <p:nvPr/>
        </p:nvSpPr>
        <p:spPr>
          <a:xfrm>
            <a:off x="960120" y="1188720"/>
            <a:ext cx="4983480" cy="320040"/>
          </a:xfrm>
          <a:prstGeom prst="rect">
            <a:avLst/>
          </a:prstGeom>
          <a:noFill/>
          <a:ln/>
        </p:spPr>
        <p:txBody>
          <a:bodyPr wrap="square" rtlCol="0" anchor="ctr"/>
          <a:lstStyle/>
          <a:p>
            <a:pPr marL="0" indent="0">
              <a:buNone/>
            </a:pPr>
            <a:endParaRPr lang="en-US" sz="1600" dirty="0"/>
          </a:p>
        </p:txBody>
      </p:sp>
      <p:sp>
        <p:nvSpPr>
          <p:cNvPr id="6" name="Text 4"/>
          <p:cNvSpPr/>
          <p:nvPr/>
        </p:nvSpPr>
        <p:spPr>
          <a:xfrm>
            <a:off x="548639" y="1200635"/>
            <a:ext cx="4365105" cy="5657366"/>
          </a:xfrm>
          <a:prstGeom prst="rect">
            <a:avLst/>
          </a:prstGeom>
          <a:noFill/>
          <a:ln/>
        </p:spPr>
        <p:txBody>
          <a:bodyPr wrap="square" rtlCol="0" anchor="t"/>
          <a:lstStyle/>
          <a:p>
            <a:pPr marL="285750" indent="-285750">
              <a:buFont typeface="Arial" panose="020B0604020202020204" pitchFamily="34" charset="0"/>
              <a:buChar char="•"/>
            </a:pPr>
            <a:r>
              <a:rPr lang="en-US" sz="1600" dirty="0"/>
              <a:t>This project demonstrates how Augmented Reality can combine digital information with real-world objects.</a:t>
            </a:r>
          </a:p>
          <a:p>
            <a:pPr marL="285750" indent="-285750">
              <a:buFont typeface="Arial" panose="020B0604020202020204" pitchFamily="34" charset="0"/>
              <a:buChar char="•"/>
            </a:pPr>
            <a:r>
              <a:rPr lang="en-US" sz="1600" dirty="0"/>
              <a:t>The current prototype successfully places labels inside the AR environment.</a:t>
            </a:r>
          </a:p>
          <a:p>
            <a:pPr marL="285750" indent="-285750">
              <a:buFont typeface="Arial" panose="020B0604020202020204" pitchFamily="34" charset="0"/>
              <a:buChar char="•"/>
            </a:pPr>
            <a:r>
              <a:rPr lang="en-US" sz="1600" dirty="0"/>
              <a:t>The future version can integrate AI and databases to create a smart object information system.</a:t>
            </a:r>
          </a:p>
          <a:p>
            <a:r>
              <a:rPr lang="en-US" sz="1600" b="1" dirty="0" smtClean="0"/>
              <a:t>Final </a:t>
            </a:r>
            <a:r>
              <a:rPr lang="en-US" sz="1600" b="1" dirty="0"/>
              <a:t>idea:</a:t>
            </a:r>
          </a:p>
          <a:p>
            <a:pPr marL="285750" indent="-285750">
              <a:buFont typeface="Arial" panose="020B0604020202020204" pitchFamily="34" charset="0"/>
              <a:buChar char="•"/>
            </a:pPr>
            <a:r>
              <a:rPr lang="en-US" sz="1600" dirty="0"/>
              <a:t>Detect object → Get information → Display it in AR</a:t>
            </a:r>
          </a:p>
          <a:p>
            <a:pPr marL="285750" indent="-285750">
              <a:buFont typeface="Arial" panose="020B0604020202020204" pitchFamily="34" charset="0"/>
              <a:buChar char="•"/>
            </a:pPr>
            <a:r>
              <a:rPr lang="en-US" sz="1600" dirty="0"/>
              <a:t>The main goal of the project is to make the camera smarter and more interactive.</a:t>
            </a:r>
          </a:p>
          <a:p>
            <a:endParaRPr lang="en-US" sz="1600" dirty="0"/>
          </a:p>
        </p:txBody>
      </p:sp>
      <p:sp>
        <p:nvSpPr>
          <p:cNvPr id="9" name="Text 7"/>
          <p:cNvSpPr/>
          <p:nvPr/>
        </p:nvSpPr>
        <p:spPr>
          <a:xfrm>
            <a:off x="6583680" y="1600200"/>
            <a:ext cx="4645152" cy="4480560"/>
          </a:xfrm>
          <a:prstGeom prst="rect">
            <a:avLst/>
          </a:prstGeom>
          <a:noFill/>
          <a:ln/>
        </p:spPr>
        <p:txBody>
          <a:bodyPr wrap="square" rtlCol="0" anchor="t"/>
          <a:lstStyle/>
          <a:p>
            <a:pPr marL="228600" indent="-228600">
              <a:spcAft>
                <a:spcPts val="600"/>
              </a:spcAft>
              <a:buSzPct val="100000"/>
              <a:buChar char="•"/>
            </a:pPr>
            <a:endParaRPr lang="en-US" sz="1300" dirty="0"/>
          </a:p>
        </p:txBody>
      </p:sp>
      <p:sp>
        <p:nvSpPr>
          <p:cNvPr id="10" name="Shape 8"/>
          <p:cNvSpPr/>
          <p:nvPr/>
        </p:nvSpPr>
        <p:spPr>
          <a:xfrm>
            <a:off x="0" y="6537960"/>
            <a:ext cx="12188952" cy="320040"/>
          </a:xfrm>
          <a:prstGeom prst="rect">
            <a:avLst/>
          </a:prstGeom>
          <a:solidFill>
            <a:srgbClr val="F3F4F6"/>
          </a:solidFill>
          <a:ln w="12700">
            <a:solidFill>
              <a:srgbClr val="F3F4F6"/>
            </a:solidFill>
            <a:prstDash val="solid"/>
          </a:ln>
        </p:spPr>
      </p:sp>
      <p:sp>
        <p:nvSpPr>
          <p:cNvPr id="11" name="Text 9"/>
          <p:cNvSpPr/>
          <p:nvPr/>
        </p:nvSpPr>
        <p:spPr>
          <a:xfrm>
            <a:off x="548640" y="6592824"/>
            <a:ext cx="11155680" cy="228600"/>
          </a:xfrm>
          <a:prstGeom prst="rect">
            <a:avLst/>
          </a:prstGeom>
          <a:noFill/>
          <a:ln/>
        </p:spPr>
        <p:txBody>
          <a:bodyPr wrap="square" rtlCol="0" anchor="ctr"/>
          <a:lstStyle/>
          <a:p>
            <a:pPr marL="0" indent="0" algn="r">
              <a:buNone/>
            </a:pPr>
            <a:endParaRPr lang="en-US" sz="1200" dirty="0"/>
          </a:p>
        </p:txBody>
      </p:sp>
      <p:pic>
        <p:nvPicPr>
          <p:cNvPr id="7170" name="Picture 2" descr="How augmented reality can improve urban planning - Tomorrow.City - The  biggest platform about urban innov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8012" y="1143000"/>
            <a:ext cx="6898330" cy="4602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129259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904</Words>
  <Application>Microsoft Office PowerPoint</Application>
  <PresentationFormat>Widescreen</PresentationFormat>
  <Paragraphs>144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MASAREF</cp:lastModifiedBy>
  <cp:revision>10</cp:revision>
  <dcterms:created xsi:type="dcterms:W3CDTF">2025-12-15T23:53:49Z</dcterms:created>
  <dcterms:modified xsi:type="dcterms:W3CDTF">2026-05-13T19:19:34Z</dcterms:modified>
</cp:coreProperties>
</file>